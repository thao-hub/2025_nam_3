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64" r:id="rId2"/>
    <p:sldId id="279" r:id="rId3"/>
    <p:sldId id="280" r:id="rId4"/>
    <p:sldId id="282" r:id="rId5"/>
    <p:sldId id="283" r:id="rId6"/>
    <p:sldId id="285" r:id="rId7"/>
    <p:sldId id="287" r:id="rId8"/>
    <p:sldId id="289" r:id="rId9"/>
    <p:sldId id="288" r:id="rId10"/>
    <p:sldId id="290" r:id="rId11"/>
    <p:sldId id="291" r:id="rId12"/>
    <p:sldId id="293" r:id="rId13"/>
    <p:sldId id="292" r:id="rId14"/>
    <p:sldId id="294" r:id="rId15"/>
    <p:sldId id="295" r:id="rId16"/>
    <p:sldId id="296" r:id="rId17"/>
    <p:sldId id="298" r:id="rId18"/>
    <p:sldId id="299" r:id="rId19"/>
    <p:sldId id="300" r:id="rId20"/>
    <p:sldId id="301" r:id="rId21"/>
    <p:sldId id="302" r:id="rId22"/>
    <p:sldId id="278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90" autoAdjust="0"/>
    <p:restoredTop sz="91311" autoAdjust="0"/>
  </p:normalViewPr>
  <p:slideViewPr>
    <p:cSldViewPr snapToGrid="0">
      <p:cViewPr varScale="1">
        <p:scale>
          <a:sx n="54" d="100"/>
          <a:sy n="54" d="100"/>
        </p:scale>
        <p:origin x="115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0DCCB1-E01B-419C-A67B-959046B1AEE5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920050-FE25-4B57-B545-97E62B60B0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6614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920050-FE25-4B57-B545-97E62B60B0A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6792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E5CB38-FBAD-9328-91D5-6CBD3297E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AC2548-DB58-AF5C-0C41-338C0079E9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971B9D-FE72-F4E3-953F-5BF371BF2F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22CD41-F11C-90C2-E78E-A952A96F2D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920050-FE25-4B57-B545-97E62B60B0A2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5734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17A33C-FC28-7645-EB8C-5F9A3E0E4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3333FE-B3DA-501C-3FB2-D3AD2A5704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91155A-2E30-100C-4EDA-3D16274C4D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3EA1D8-0176-FC1C-7B59-498E161EC5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920050-FE25-4B57-B545-97E62B60B0A2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4751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45850-8992-0276-F0D5-BFBB435620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08E4CB-6ACB-EBC1-0B3F-371A66C5B3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EB891B-E964-7361-C125-BEF237F45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11A57-2733-4829-B65C-6CDD1B0347CC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FCB940-0DF4-0265-D179-660DB40BD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02F3E4-0E5A-FDB2-63DA-56D823579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FF848-CBBB-4727-864E-5496DDA14C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0521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FB5E3-DAB8-CBC5-B55D-292DE812B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DF5506-2D7E-CEEC-6A21-04D150915F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533BCA-6E44-64B3-3669-1AECFE67DB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11A57-2733-4829-B65C-6CDD1B0347CC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B0A1E5-65A8-9FFF-E034-31CFC4BEA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D34C73-DE82-BED0-FCB8-61735EDCD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FF848-CBBB-4727-864E-5496DDA14C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2473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F3493-CB8B-2441-9E46-DE488A10B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F25C61-696D-DFBB-BCD7-0B2251BA5B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95CA19-B173-ABD3-CE48-F1FE2ABE4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11A57-2733-4829-B65C-6CDD1B0347CC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96B99-9D39-EE90-07E0-CFA5F8301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84C6D5-73A2-B865-F5B6-0608CF737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FF848-CBBB-4727-864E-5496DDA14C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289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E89E1-F460-E74A-6E0C-561A1006C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5C1FE9-6FC6-708F-A683-F8FE04BD23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74742B-DF91-23D0-66DB-6A3E352F63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691F6E-235B-0C1A-F841-EB4A69437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11A57-2733-4829-B65C-6CDD1B0347CC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87B276-5D72-F2AE-0E3E-944C6CD48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03E39E-B0D2-55BD-17C8-010EF1A58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FF848-CBBB-4727-864E-5496DDA14C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0667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27E46-C833-A9E1-62E7-AC1B6D452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79E72D-F86B-CFC0-E41D-05FB0C2C82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0CBB92-46C2-F106-06A8-D4F3DC68A8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0CF98-CC31-6096-DC27-8148CFEB49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42A7AB-96E0-E2B8-B2F8-748AE7F0A9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DFD755-7EFB-FE66-E0F1-DD2FB5480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11A57-2733-4829-B65C-6CDD1B0347CC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2CBA2C-DD95-5B16-6E6B-FA417C82A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D9F1C8-65EE-8B72-2377-A8DA82F18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FF848-CBBB-4727-864E-5496DDA14C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5633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D69E1-C69E-D80B-7318-65178633B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13714F-F7FB-F4AC-9ACE-E80306806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11A57-2733-4829-B65C-6CDD1B0347CC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5FB2EA-2147-9A05-6F75-73ADE1105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693C84-07FD-FBCD-7066-05D9D90DD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FF848-CBBB-4727-864E-5496DDA14C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7500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BA98FC-4C3D-0381-7869-D5E63B0B5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11A57-2733-4829-B65C-6CDD1B0347CC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444043-7B37-C229-11D2-4BED032A6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E0C87B-36F5-65D2-6C22-E814D5DD7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FF848-CBBB-4727-864E-5496DDA14C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6207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AF6C5-ABB4-1025-44AB-0B0625912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9ABE6A-2701-82CB-3609-D34AF5EC62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0CD920-0E80-6CFC-7837-0E0974643E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624337-56D7-3D4C-AB20-5D01A49F4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11A57-2733-4829-B65C-6CDD1B0347CC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1D1D13-0592-051F-E584-22D742696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7F21A6-C799-5618-BDC2-627F397A2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FF848-CBBB-4727-864E-5496DDA14C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568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16827-BF0E-5474-260A-CBAA7F682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12AA0C-E9F8-BC8D-AB75-4A18ACA943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6BB671-1DC9-889F-15CB-3F81CC4251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958BA4-680E-0032-0C8E-EF0E2275B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11A57-2733-4829-B65C-6CDD1B0347CC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274592-17DA-640A-A720-E79AD4044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6941CE-AF2E-9F62-4007-2EE8E96E5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FF848-CBBB-4727-864E-5496DDA14C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706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5D196-57D4-44A8-B66F-2D0F263D8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81B009-4D54-AFE7-9821-C7CD758590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58C466-D45B-40EB-B034-FDBCB9218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11A57-2733-4829-B65C-6CDD1B0347CC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71EEC-43E7-70CD-6920-9B9C44BAC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71975E-A993-A2E0-E29D-F314D53F3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FF848-CBBB-4727-864E-5496DDA14C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8118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72C7A1-793F-B0B2-3A13-5E6A0647C9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19C302-A9D0-0D5C-2BBC-07E7E5D8C2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9FDA64-8AB6-FF3D-0EAE-325105D81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11A57-2733-4829-B65C-6CDD1B0347CC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9C8961-B29E-F840-CF2C-30AF1C903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A8B114-BFBA-D387-7406-824D703B3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FF848-CBBB-4727-864E-5496DDA14C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9686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3953EC-5998-6FC3-D921-32BC329CE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CBC556-B26D-95F4-70A4-D5B17F04B8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0372C3-4605-7E6F-4B5E-28BE9C56A5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D11A57-2733-4829-B65C-6CDD1B0347CC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ECA48-E425-A3DF-2F1C-6C309EEC9C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C1AB33-F6EC-F29A-04B6-7C4D94E631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BFF848-CBBB-4727-864E-5496DDA14C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240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8E6B66-943E-65CE-C12D-C533E5D64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1" name="Rectangle 100">
            <a:extLst>
              <a:ext uri="{FF2B5EF4-FFF2-40B4-BE49-F238E27FC236}">
                <a16:creationId xmlns:a16="http://schemas.microsoft.com/office/drawing/2014/main" id="{6314D791-4D8A-4854-B8FC-6959656D09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15076E76-3EB3-4269-8135-07CAB20E59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F92FCC-08DB-B6E2-FDD7-850096EDB714}"/>
              </a:ext>
            </a:extLst>
          </p:cNvPr>
          <p:cNvSpPr txBox="1"/>
          <p:nvPr/>
        </p:nvSpPr>
        <p:spPr>
          <a:xfrm>
            <a:off x="2266704" y="98437"/>
            <a:ext cx="7326086" cy="150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500" b="1" kern="1200">
                <a:solidFill>
                  <a:srgbClr val="0070C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MÔN CƠ SỞ DỮ LIỆU NÂNG CAO</a:t>
            </a:r>
          </a:p>
        </p:txBody>
      </p: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5EB3C7E5-50E1-4F9E-AEA3-A6D2190394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305" y="0"/>
            <a:ext cx="5163047" cy="3153018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80233B5C-C5A9-48C0-8C07-21E6F6B360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10F3AF96-AAC1-41E3-9F66-0A6277845D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5DF38A98-557F-4C23-935A-42806B67AA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8ACEB13D-EBFC-4288-B604-572C2F779A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B988F9A4-0578-4C59-8B4A-346E02CF3A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9262397" y="3928396"/>
            <a:ext cx="3142400" cy="2716805"/>
            <a:chOff x="-305" y="-4155"/>
            <a:chExt cx="2514948" cy="2174333"/>
          </a:xfrm>
        </p:grpSpPr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F63F827B-FA00-442A-A09C-806F1FFA34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AC876680-EE75-4791-842F-E23509221D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3B9819B2-70D4-4E0A-8D51-6B359B44CB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5FA8033D-6A70-4FA5-8F37-7F8C117C98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934F3CB4-6563-83E9-820B-F6B9C42BCA3F}"/>
              </a:ext>
            </a:extLst>
          </p:cNvPr>
          <p:cNvSpPr txBox="1"/>
          <p:nvPr/>
        </p:nvSpPr>
        <p:spPr>
          <a:xfrm>
            <a:off x="3335730" y="1841305"/>
            <a:ext cx="5188034" cy="6820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vi-VN" sz="25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sz="2500" b="1" kern="1200"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ề tài</a:t>
            </a:r>
            <a:r>
              <a:rPr lang="vi-VN" sz="2500" b="1" kern="1200"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45</a:t>
            </a:r>
            <a:endParaRPr lang="en-US" sz="2500" b="1" kern="1200">
              <a:solidFill>
                <a:schemeClr val="tx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FA66D7-8E6B-3E5B-7836-A066929BD03C}"/>
              </a:ext>
            </a:extLst>
          </p:cNvPr>
          <p:cNvSpPr txBox="1"/>
          <p:nvPr/>
        </p:nvSpPr>
        <p:spPr>
          <a:xfrm>
            <a:off x="3675256" y="3602015"/>
            <a:ext cx="4841182" cy="2806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vi-VN" sz="2000" b="1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Họ tên sinh viên: </a:t>
            </a:r>
            <a:r>
              <a:rPr lang="vi-VN" sz="200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Trần Thị Thanh Thảo</a:t>
            </a:r>
            <a:endParaRPr lang="en-US" sz="200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vi-VN" sz="2000" b="1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Mã số sinh viên: </a:t>
            </a:r>
            <a:r>
              <a:rPr lang="vi-VN" sz="200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1250080179</a:t>
            </a:r>
            <a:endParaRPr lang="en-US" sz="200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vi-VN" sz="2000" b="1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Lớp</a:t>
            </a:r>
            <a:r>
              <a:rPr lang="vi-VN" sz="200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		</a:t>
            </a:r>
            <a:r>
              <a:rPr lang="vi-VN" sz="2000" b="1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  <a:r>
              <a:rPr lang="vi-VN" sz="200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12_ĐH_CNTT4</a:t>
            </a:r>
            <a:endParaRPr lang="en-US" sz="200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vi-VN" sz="2000" b="1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Niên khóa </a:t>
            </a:r>
            <a:r>
              <a:rPr lang="vi-VN" sz="200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2023 – 2027</a:t>
            </a:r>
          </a:p>
          <a:p>
            <a:pPr>
              <a:lnSpc>
                <a:spcPct val="150000"/>
              </a:lnSpc>
              <a:buNone/>
            </a:pPr>
            <a:endParaRPr lang="vi-VN" sz="2000"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vi-VN" sz="2000" b="1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Giảng viên hướng dẫn: </a:t>
            </a:r>
            <a:r>
              <a:rPr lang="vi-VN" sz="200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Phạm Trọng Huynh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14F7917-732D-DBD1-210B-813693D8C751}"/>
              </a:ext>
            </a:extLst>
          </p:cNvPr>
          <p:cNvSpPr txBox="1"/>
          <p:nvPr/>
        </p:nvSpPr>
        <p:spPr>
          <a:xfrm>
            <a:off x="2857118" y="2422362"/>
            <a:ext cx="6145258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2500" b="1">
                <a:solidFill>
                  <a:srgbClr val="0070C0"/>
                </a:solidFill>
                <a:latin typeface="+mj-lt"/>
              </a:rPr>
              <a:t>QUẢN LÝ BÁN HÀNG Ở MỘT SIÊU THỊ</a:t>
            </a:r>
            <a:endParaRPr lang="en-US" sz="2500" b="1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3190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A3C7DEA-BCC2-4295-8850-1479932961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289949D-B9F6-468A-86FE-2694DC5AE7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4DF0958-0C87-4C28-9554-2FADC788C2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67135" y="0"/>
            <a:ext cx="4324865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EC53B48-7B73-49D1-A6FD-9DBF5141EA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DEDDC41-2C98-4AF1-A0EA-AEEC34827C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2208F20-F93C-4530-8370-FC7818BABB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52F51E0-B50B-43EA-B6AC-C16BD29C3E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ECE793BE-4818-F121-0868-6DA1FB43C309}"/>
              </a:ext>
            </a:extLst>
          </p:cNvPr>
          <p:cNvSpPr txBox="1"/>
          <p:nvPr/>
        </p:nvSpPr>
        <p:spPr>
          <a:xfrm>
            <a:off x="497406" y="746280"/>
            <a:ext cx="11431776" cy="270275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spcAft>
                <a:spcPts val="600"/>
              </a:spcAft>
            </a:pPr>
            <a:r>
              <a:rPr lang="vi-V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1.1. Tên đề tài, mô tả bài toán thực tế và phạm vi hệ thống</a:t>
            </a:r>
          </a:p>
          <a:p>
            <a: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  <a:t>Đề tài 45: Quản lý bán hàng ở một siêu thị.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  <a:t>Mô tả: Bài toán thực tế gồm nhiều dữ liệu như hàng hóa, lô hàng, khách hàng, nhân viên, hóa đơn, khuyến mãi.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  <a:t>Phạm vi: Hệ thống tập trung vào quản lý hàng hóa, bán hàng, tồn kho, hóa đơn và thống kê.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B259B8-AF65-1955-FC3E-42776A4F8577}"/>
              </a:ext>
            </a:extLst>
          </p:cNvPr>
          <p:cNvSpPr txBox="1"/>
          <p:nvPr/>
        </p:nvSpPr>
        <p:spPr>
          <a:xfrm>
            <a:off x="497406" y="3443319"/>
            <a:ext cx="11196577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1.2. Lý do chọn đề tài</a:t>
            </a:r>
            <a:endParaRPr lang="vi-VN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  <a:t>Đề tài gần với thực tế và có nhiều dữ liệu liên quan với nhau.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  <a:t>Phù hợp để áp dụng ERD, lược đồ quan hệ, chuẩn hóa và truy vấn SQL.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  <a:t>CSDL quan hệ giúp giảm dư thừa, đảm bảo toàn vẹn và thuận tiện cho quản lý dữ liệu.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4BBC16-8BE4-F8B0-D073-AF9592495E08}"/>
              </a:ext>
            </a:extLst>
          </p:cNvPr>
          <p:cNvSpPr txBox="1"/>
          <p:nvPr/>
        </p:nvSpPr>
        <p:spPr>
          <a:xfrm>
            <a:off x="3649952" y="157766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8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vi-VN" sz="28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1: TỔNG QUAN ĐỀ TÀI</a:t>
            </a:r>
            <a:endParaRPr lang="en-US" sz="280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30573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5A35FC-36EC-36BD-0A70-06D2B0F1F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34DAB77-DED9-CD7E-D9B0-3FBE43CA0F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667306D-829B-88FB-9CA2-C8D18D9AF5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16AD4AA-E603-5B1E-7A65-DFBDDB047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67135" y="0"/>
            <a:ext cx="4324865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C2EE7AB-3081-C959-3041-2BFEAA5815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EAFCDBB-960C-8D0F-872E-8A7A34DA83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DD18DEC-21DA-9293-2667-BEADB9DE0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A7BE99E-32CA-E38B-6D40-40B7BDB5DD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79A3F0B4-F11F-A4F8-5E2B-C1626F632D47}"/>
              </a:ext>
            </a:extLst>
          </p:cNvPr>
          <p:cNvSpPr txBox="1"/>
          <p:nvPr/>
        </p:nvSpPr>
        <p:spPr>
          <a:xfrm>
            <a:off x="497406" y="746280"/>
            <a:ext cx="11431776" cy="270275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vi-VN" sz="2800" b="1">
                <a:latin typeface="+mj-lt"/>
              </a:rPr>
              <a:t>1.3. Chức năng chính của hệ thống</a:t>
            </a:r>
            <a:endParaRPr lang="vi-VN" sz="2800">
              <a:latin typeface="+mj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vi-VN" sz="2800">
                <a:latin typeface="+mj-lt"/>
              </a:rPr>
              <a:t>Quản lý ngành hàng, loại hàng, mặt hàng.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vi-VN" sz="2800">
                <a:latin typeface="+mj-lt"/>
              </a:rPr>
              <a:t>Quản lý nhà sản xuất, nhà phân phối, lô hàng, vị trí trưng bày.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vi-VN" sz="2800">
                <a:latin typeface="+mj-lt"/>
              </a:rPr>
              <a:t>Quản lý nhân viên, tài khoản, khách hàng.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vi-VN" sz="2800">
                <a:latin typeface="+mj-lt"/>
              </a:rPr>
              <a:t>Lập hóa đơn, quản lý khuyến mãi, thống kê bán hàng và tồn kho.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A6071F-C250-62B0-812A-D54D6F71394A}"/>
              </a:ext>
            </a:extLst>
          </p:cNvPr>
          <p:cNvSpPr txBox="1"/>
          <p:nvPr/>
        </p:nvSpPr>
        <p:spPr>
          <a:xfrm>
            <a:off x="497406" y="3443319"/>
            <a:ext cx="11196577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2800" b="1">
                <a:latin typeface="+mj-lt"/>
              </a:rPr>
              <a:t>1.4. Công nghệ, nền tảng sử dụng</a:t>
            </a:r>
            <a:endParaRPr lang="vi-VN" sz="2800">
              <a:latin typeface="+mj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vi-VN" sz="2800">
                <a:latin typeface="+mj-lt"/>
              </a:rPr>
              <a:t>Sử dụng SQL Server để xây dựng cơ sở dữ liệu quan hệ.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vi-VN" sz="2800">
                <a:latin typeface="+mj-lt"/>
              </a:rPr>
              <a:t>SQL Server hỗ trợ tốt cho tạo bảng, ràng buộc, truy vấn, function, procedure, trigger.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vi-VN" sz="2800">
                <a:latin typeface="+mj-lt"/>
              </a:rPr>
              <a:t>Trọng tâm của đề tài là thiết kế và triển khai cơ sở dữ liệu quan hệ.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303D3D-7E4B-A487-C394-1A52F9435AFE}"/>
              </a:ext>
            </a:extLst>
          </p:cNvPr>
          <p:cNvSpPr txBox="1"/>
          <p:nvPr/>
        </p:nvSpPr>
        <p:spPr>
          <a:xfrm>
            <a:off x="3649952" y="157766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8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vi-VN" sz="28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1: TỔNG QUAN ĐỀ TÀI</a:t>
            </a:r>
            <a:endParaRPr lang="en-US" sz="280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93854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9AD95F-51F4-F453-8555-AC7FC4174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6CEDEE7-54D6-DA65-6B7C-B02BF4A535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56D4AC0-0127-487C-62B4-764318908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87DD1F6-7CAC-CB8E-1522-D496CAFC5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67135" y="0"/>
            <a:ext cx="4324865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8243E72-4249-FAA6-7109-17B4FF2AAA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8996DBF5-CC18-48FB-8747-106C78C626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40A08B9-1E5F-3C4E-99F8-EB47264409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DFAEEDE-E5E3-478F-6CC2-8E6A3C4D31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F5A4C069-0F67-A516-76D8-4ABDA2B45D26}"/>
              </a:ext>
            </a:extLst>
          </p:cNvPr>
          <p:cNvSpPr txBox="1"/>
          <p:nvPr/>
        </p:nvSpPr>
        <p:spPr>
          <a:xfrm>
            <a:off x="174172" y="512965"/>
            <a:ext cx="12104609" cy="583206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vi-VN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2.1. Xác định thực thể chính, thuộc tính và mối quan hệ</a:t>
            </a:r>
            <a:endParaRPr lang="vi-VN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 sz="2200">
                <a:latin typeface="Times New Roman" panose="02020603050405020304" pitchFamily="18" charset="0"/>
                <a:cs typeface="Times New Roman" panose="02020603050405020304" pitchFamily="18" charset="0"/>
              </a:rPr>
              <a:t>Các thực thể chính gồm:</a:t>
            </a:r>
          </a:p>
          <a:p>
            <a:r>
              <a:rPr lang="vi-VN" sz="220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NGANH_HANG, LOAI_HANG, MAT_HANG, NHA_SAN_XUAT, NHA_PHAN_PHOI, LO_HANG, </a:t>
            </a:r>
          </a:p>
          <a:p>
            <a:r>
              <a:rPr lang="vi-VN" sz="220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KHACH_HANG, NHAN_VIEN, TAI_KHOAN, KHUYEN_MAI, HOA_DON, CHI_TIET_HOA_DON</a:t>
            </a:r>
            <a:r>
              <a:rPr lang="vi-VN" sz="22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vi-VN" sz="2200">
                <a:latin typeface="Times New Roman" panose="02020603050405020304" pitchFamily="18" charset="0"/>
                <a:cs typeface="Times New Roman" panose="02020603050405020304" pitchFamily="18" charset="0"/>
              </a:rPr>
              <a:t>Mỗi thực thể có các thuộc tính đặc trưng như mã, tên, thông tin mô tả, trạng thái và các khóa liên kết.</a:t>
            </a:r>
          </a:p>
          <a:p>
            <a:r>
              <a:rPr lang="vi-VN" sz="2200">
                <a:latin typeface="Times New Roman" panose="02020603050405020304" pitchFamily="18" charset="0"/>
                <a:cs typeface="Times New Roman" panose="02020603050405020304" pitchFamily="18" charset="0"/>
              </a:rPr>
              <a:t>Các quan hệ chính: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vi-VN" sz="2200">
                <a:latin typeface="Times New Roman" panose="02020603050405020304" pitchFamily="18" charset="0"/>
                <a:cs typeface="Times New Roman" panose="02020603050405020304" pitchFamily="18" charset="0"/>
              </a:rPr>
              <a:t>NGANH_HANG - LOAI_HANG: 1-N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vi-VN" sz="2200">
                <a:latin typeface="Times New Roman" panose="02020603050405020304" pitchFamily="18" charset="0"/>
                <a:cs typeface="Times New Roman" panose="02020603050405020304" pitchFamily="18" charset="0"/>
              </a:rPr>
              <a:t>LOAI_HANG - MAT_HANG: 1-N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vi-VN" sz="2200">
                <a:latin typeface="Times New Roman" panose="02020603050405020304" pitchFamily="18" charset="0"/>
                <a:cs typeface="Times New Roman" panose="02020603050405020304" pitchFamily="18" charset="0"/>
              </a:rPr>
              <a:t>NHA_SAN_XUAT - MAT_HANG: 1-N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vi-VN" sz="2200">
                <a:latin typeface="Times New Roman" panose="02020603050405020304" pitchFamily="18" charset="0"/>
                <a:cs typeface="Times New Roman" panose="02020603050405020304" pitchFamily="18" charset="0"/>
              </a:rPr>
              <a:t>NHA_PHAN_PHOI - MAT_HANG: 1-N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vi-VN" sz="2200">
                <a:latin typeface="Times New Roman" panose="02020603050405020304" pitchFamily="18" charset="0"/>
                <a:cs typeface="Times New Roman" panose="02020603050405020304" pitchFamily="18" charset="0"/>
              </a:rPr>
              <a:t>MAT_HANG - LO_HANG: 1-N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vi-VN" sz="2200">
                <a:latin typeface="Times New Roman" panose="02020603050405020304" pitchFamily="18" charset="0"/>
                <a:cs typeface="Times New Roman" panose="02020603050405020304" pitchFamily="18" charset="0"/>
              </a:rPr>
              <a:t>NHAN_VIEN - HOA_DON: 1-N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vi-VN" sz="2200">
                <a:latin typeface="Times New Roman" panose="02020603050405020304" pitchFamily="18" charset="0"/>
                <a:cs typeface="Times New Roman" panose="02020603050405020304" pitchFamily="18" charset="0"/>
              </a:rPr>
              <a:t>KHACH_HANG - HOA_DON: 1-N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vi-VN" sz="2200">
                <a:latin typeface="Times New Roman" panose="02020603050405020304" pitchFamily="18" charset="0"/>
                <a:cs typeface="Times New Roman" panose="02020603050405020304" pitchFamily="18" charset="0"/>
              </a:rPr>
              <a:t>KHUYEN_MAI - HOA_DON: 1-N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vi-VN" sz="2200">
                <a:latin typeface="Times New Roman" panose="02020603050405020304" pitchFamily="18" charset="0"/>
                <a:cs typeface="Times New Roman" panose="02020603050405020304" pitchFamily="18" charset="0"/>
              </a:rPr>
              <a:t>NHAN_VIEN - TAI_KHOAN: 1-1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vi-VN" sz="2200">
                <a:latin typeface="Times New Roman" panose="02020603050405020304" pitchFamily="18" charset="0"/>
                <a:cs typeface="Times New Roman" panose="02020603050405020304" pitchFamily="18" charset="0"/>
              </a:rPr>
              <a:t>HOA_DON - MAT_HANG: N-N qua CHI_TIET_HOA_DON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D63958-6E88-01E4-7D2F-51A2F3C39628}"/>
              </a:ext>
            </a:extLst>
          </p:cNvPr>
          <p:cNvSpPr txBox="1"/>
          <p:nvPr/>
        </p:nvSpPr>
        <p:spPr>
          <a:xfrm>
            <a:off x="2961501" y="111531"/>
            <a:ext cx="679592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8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vi-VN" sz="28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2: MÔ HÌNH DỮ LIỆU QUAN HỆ</a:t>
            </a:r>
            <a:endParaRPr lang="en-US" sz="280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9497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4D034F-C3B3-5D11-98F0-12280DEE4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83EA410-7C7D-3911-85DC-473812FB4B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2C47521-8988-6412-DCAB-3B6DC9922B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E75C46A-6AD6-B651-F893-AB69E043A5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67135" y="0"/>
            <a:ext cx="4324865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B59DE45-D4B2-3848-FD4B-CD85E979B0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589C1D0-498C-2097-8B1A-1AC94D7B5F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50E8B25-D7E1-A3BB-DB94-C9D69F311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4732A73-8049-DBFE-2D10-8B041C843F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289D938E-7BC2-60E5-90A5-22CCCE5C0E1B}"/>
              </a:ext>
            </a:extLst>
          </p:cNvPr>
          <p:cNvSpPr txBox="1"/>
          <p:nvPr/>
        </p:nvSpPr>
        <p:spPr>
          <a:xfrm>
            <a:off x="2961501" y="111531"/>
            <a:ext cx="679592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8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vi-VN" sz="28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2: MÔ HÌNH DỮ LIỆU QUAN HỆ</a:t>
            </a:r>
            <a:endParaRPr lang="en-US" sz="280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74D70B-2FD3-7D76-0B68-298ADEBB6FA3}"/>
              </a:ext>
            </a:extLst>
          </p:cNvPr>
          <p:cNvSpPr txBox="1"/>
          <p:nvPr/>
        </p:nvSpPr>
        <p:spPr>
          <a:xfrm>
            <a:off x="0" y="536736"/>
            <a:ext cx="6096000" cy="5901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vi-VN" sz="2400" b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2.2 Mô hình thực thể - liên kết (ERD)</a:t>
            </a:r>
            <a:endParaRPr lang="en-US" sz="2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F93274F-5587-333B-22BD-E51C08B267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5" y="1028882"/>
            <a:ext cx="12192000" cy="5845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1784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6C8BCD-44DB-C7FB-9140-BF08C5CCB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148D735-FEA8-188B-27C8-54DF0D589E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C1CBDD5-2F02-BE66-420B-20B580E86C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CDB65DF-CBDF-1AB7-ADE6-5950B93998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67135" y="0"/>
            <a:ext cx="4324865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44FD2E9-7C00-67C5-671A-5D120B6FEB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757BB56-0C11-0A31-8258-343751A8BB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48780CF-63B7-E9FE-8693-1842C700BD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F96FAD97-7F1A-CA90-3F09-FC7DC5D204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6A2B2899-49A4-8B53-851A-6D87129770A3}"/>
              </a:ext>
            </a:extLst>
          </p:cNvPr>
          <p:cNvSpPr txBox="1"/>
          <p:nvPr/>
        </p:nvSpPr>
        <p:spPr>
          <a:xfrm>
            <a:off x="2961501" y="111531"/>
            <a:ext cx="679592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8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vi-VN" sz="28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2: MÔ HÌNH DỮ LIỆU QUAN HỆ</a:t>
            </a:r>
            <a:endParaRPr lang="en-US" sz="280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2BB8F7-ABF1-13D3-97E2-A75F3D9309E1}"/>
              </a:ext>
            </a:extLst>
          </p:cNvPr>
          <p:cNvSpPr txBox="1"/>
          <p:nvPr/>
        </p:nvSpPr>
        <p:spPr>
          <a:xfrm>
            <a:off x="511629" y="723240"/>
            <a:ext cx="6096000" cy="5901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vi-VN" sz="2400" b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2.3 Lược đồ quan hệ</a:t>
            </a:r>
            <a:endParaRPr lang="en-US" sz="2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C1606E6-B0D2-975E-E49C-A93FBF697076}"/>
              </a:ext>
            </a:extLst>
          </p:cNvPr>
          <p:cNvSpPr txBox="1"/>
          <p:nvPr/>
        </p:nvSpPr>
        <p:spPr>
          <a:xfrm>
            <a:off x="161811" y="1401891"/>
            <a:ext cx="5834742" cy="42005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NGANH_HANG 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</a:t>
            </a:r>
            <a:r>
              <a:rPr lang="en-US" sz="2000" u="heavy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MaNganh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TenNganh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  <a:endParaRPr lang="en-US" sz="20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NHA_SAN_XUAT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(</a:t>
            </a:r>
            <a:r>
              <a:rPr lang="en-US" sz="2000" u="heavy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MaNSX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TenNSX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DiaChi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SDT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  <a:endParaRPr lang="en-US" sz="20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NHA_PHAN_PHOI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(</a:t>
            </a:r>
            <a:r>
              <a:rPr lang="en-US" sz="2000" u="heavy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MaNPP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TenNPP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DiaChi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SDT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  <a:endParaRPr lang="en-US" sz="20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KHUYEN_MAI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(</a:t>
            </a:r>
            <a:r>
              <a:rPr lang="en-US" sz="2000" u="heavy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MaKM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TenChuongTrinh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PhanTramGiam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NgayBatDau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NgayKetThuc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TrangThai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  <a:endParaRPr lang="en-US" sz="20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NHAN_VIEN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(</a:t>
            </a:r>
            <a:r>
              <a:rPr lang="en-US" sz="2000" u="heavy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MaNV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HoTen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SDT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DiaChi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ChucVu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TrangThai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  <a:endParaRPr lang="en-US" sz="20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LOAI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_ </a:t>
            </a:r>
            <a:r>
              <a:rPr lang="en-US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HANG 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</a:t>
            </a:r>
            <a:r>
              <a:rPr lang="en-US" sz="2000" u="heavy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MaLoai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TenLoai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MaNganh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  <a:endParaRPr lang="en-US" sz="20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CB6F4E2-CD0E-F6B6-0E9B-8FA126736101}"/>
              </a:ext>
            </a:extLst>
          </p:cNvPr>
          <p:cNvSpPr txBox="1"/>
          <p:nvPr/>
        </p:nvSpPr>
        <p:spPr>
          <a:xfrm>
            <a:off x="6158058" y="1277434"/>
            <a:ext cx="6096000" cy="5585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TAI_KHOAN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(</a:t>
            </a:r>
            <a:r>
              <a:rPr lang="en-US" sz="2000" u="heavy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MaTK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TenDangNhap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MatKhau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Quyen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000" u="dashHeavy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MaNV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DangHoatDong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  <a:endParaRPr lang="en-US" sz="20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KHACH_HANG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(</a:t>
            </a:r>
            <a:r>
              <a:rPr lang="en-US" sz="2000" u="heavy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MaKH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HoTen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SDT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DiaChi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HangThanhVien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DiemTichLuy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  <a:endParaRPr lang="en-US" sz="20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MAT_HANG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(</a:t>
            </a:r>
            <a:r>
              <a:rPr lang="en-US" sz="2000" u="heavy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MaHang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TenHang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DonViTinh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GiaGoc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GiaBan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000" u="dashHeavy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MaLoai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000" u="dashHeavy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MaNSX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000" u="dashHeavy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MaNPP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TrangThai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  <a:endParaRPr lang="en-US" sz="20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LO_HANG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(</a:t>
            </a:r>
            <a:r>
              <a:rPr lang="en-US" sz="2000" u="heavy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MaLo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TenLo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000" u="dashHeavy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MaHang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SoLuongNhap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TonKho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TenVT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NgayNhap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  <a:endParaRPr lang="en-US" sz="20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HOA_DON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(</a:t>
            </a:r>
            <a:r>
              <a:rPr lang="en-US" sz="2000" u="heavy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MaHD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NgayLap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TongTien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000" u="dashHeavy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MaNV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000" u="dashHeavy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MaKM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000" u="dashHeavy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MaKH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PhuongThucThanhToan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</a:t>
            </a:r>
            <a:r>
              <a:rPr lang="vi-VN" sz="20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TrangThai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  <a:endParaRPr lang="en-US" sz="20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CHI_TIET_HOA_DON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(</a:t>
            </a:r>
            <a:r>
              <a:rPr lang="en-US" sz="2000" u="heavy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MaHD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000" u="heavy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MaHang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SoLuong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DonGiaBan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  <a:endParaRPr lang="en-US" sz="20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4763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7AA73C-7456-A01F-796A-5D0CC7445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291B9B1-DA0C-A98A-246E-220FDE25A5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F06326A-3173-12FA-1E44-6E146543EC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8EF7E0D-C0A9-4AE9-E40E-85C167703A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67135" y="0"/>
            <a:ext cx="4324865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2B59575-CE96-73C7-C29E-7DB8CDB673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2AE067B-F8E8-37F8-E36C-DD63BCCC33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279475D-EA30-F973-990B-597EE6BDCE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0A0A9BD-BE8C-B2AC-7EDC-A642D95E1E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39EF05F1-8A61-8789-0C8D-89446C59FE51}"/>
              </a:ext>
            </a:extLst>
          </p:cNvPr>
          <p:cNvSpPr txBox="1"/>
          <p:nvPr/>
        </p:nvSpPr>
        <p:spPr>
          <a:xfrm>
            <a:off x="2961501" y="111531"/>
            <a:ext cx="679592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8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vi-VN" sz="28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2: MÔ HÌNH DỮ LIỆU QUAN HỆ</a:t>
            </a:r>
            <a:endParaRPr lang="en-US" sz="280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A2DA3D-C1A6-27D7-3FED-B58FEFC02104}"/>
              </a:ext>
            </a:extLst>
          </p:cNvPr>
          <p:cNvSpPr txBox="1"/>
          <p:nvPr/>
        </p:nvSpPr>
        <p:spPr>
          <a:xfrm>
            <a:off x="381000" y="72728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vi-V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. Các ràng buộc toàn vẹn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B93E6F9-3E78-8D3C-C0AD-5FC900C8268F}"/>
              </a:ext>
            </a:extLst>
          </p:cNvPr>
          <p:cNvSpPr txBox="1"/>
          <p:nvPr/>
        </p:nvSpPr>
        <p:spPr>
          <a:xfrm>
            <a:off x="381000" y="1281474"/>
            <a:ext cx="5040086" cy="2372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50"/>
              </a:spcAft>
            </a:pPr>
            <a:r>
              <a:rPr lang="en-US" sz="2400" b="0" i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CSDL sử dụng đầy đủ các ràng buộc: PK, FK, UNIQUE, CHECK, NOT NULL, DEFAULT để đảm bảo dữ liệu chính xác và nhất quán.</a:t>
            </a:r>
          </a:p>
          <a:p>
            <a:pPr>
              <a:buNone/>
            </a:pPr>
            <a:b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B2F979D-8651-B64A-F55D-762158F7D02C}"/>
              </a:ext>
            </a:extLst>
          </p:cNvPr>
          <p:cNvSpPr txBox="1"/>
          <p:nvPr/>
        </p:nvSpPr>
        <p:spPr>
          <a:xfrm>
            <a:off x="320824" y="3026229"/>
            <a:ext cx="5263547" cy="2838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400" b="1" i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Khóa chính</a:t>
            </a:r>
            <a:endParaRPr lang="en-US" sz="2400" b="0" i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sz="2400" b="0" i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Mỗi bảng đều có khóa chính để định danh duy nhất từng bản ghi.</a:t>
            </a:r>
          </a:p>
          <a:p>
            <a:pPr marL="342900" indent="-342900" algn="l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sz="2400" b="0" i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MaNganh, MaLoai, MaHang, MaLo, MaKH,MaNV, MaHD.</a:t>
            </a:r>
          </a:p>
          <a:p>
            <a:pPr marL="342900" indent="-342900" algn="l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sz="2400" b="0" i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Bảng CHI_TIET_HOA_DON dùng khóa chính ghép (MaHD, MaHang).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37B0F1C-44E7-9F3F-33D5-857E0D5516F9}"/>
              </a:ext>
            </a:extLst>
          </p:cNvPr>
          <p:cNvSpPr txBox="1"/>
          <p:nvPr/>
        </p:nvSpPr>
        <p:spPr>
          <a:xfrm>
            <a:off x="5584371" y="1361077"/>
            <a:ext cx="6313410" cy="2934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400" b="1" i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Khóa ngoại</a:t>
            </a:r>
            <a:endParaRPr lang="en-US" sz="2400" b="0" i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Aft>
                <a:spcPts val="450"/>
              </a:spcAft>
            </a:pPr>
            <a:r>
              <a:rPr lang="en-US" sz="2400" b="0" i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Dùng để liên kết giữa các bảng.</a:t>
            </a:r>
            <a:endParaRPr lang="vi-VN" sz="24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sz="2400" b="0" i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LOAI_HANG.MaNganh -&gt; NGANH_HANG</a:t>
            </a:r>
            <a:endParaRPr lang="vi-VN" sz="2400" b="0" i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sz="2400" b="0" i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MAT_HANG.MaLoai -&gt; LOAI_HANG</a:t>
            </a:r>
            <a:endParaRPr lang="vi-VN" sz="2400" b="0" i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sz="2400" b="0" i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HOA_DON.MaKH -&gt; KHACH_HANG</a:t>
            </a:r>
            <a:endParaRPr lang="vi-VN" sz="2400" b="0" i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sz="2400" b="0" i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CHI_TIET_HOA_DON.MaHD -&gt; HOA_DON</a:t>
            </a:r>
          </a:p>
        </p:txBody>
      </p:sp>
    </p:spTree>
    <p:extLst>
      <p:ext uri="{BB962C8B-B14F-4D97-AF65-F5344CB8AC3E}">
        <p14:creationId xmlns:p14="http://schemas.microsoft.com/office/powerpoint/2010/main" val="36175406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4362E2-2091-4889-07C0-5F1B1E6A7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BA55456-02FE-23A8-CD3C-D2DAED501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E34B52-5018-FFF6-9119-C260DEDEA2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5778554-A35C-85B2-76D1-26A775CD66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67135" y="0"/>
            <a:ext cx="4324865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1B12451-EB87-9EFE-7769-865EF36215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BAB1640-1DFF-53AC-F4A2-3709B54BF0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2585333-63CC-3F87-14E2-081F93D411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DB17297-BD46-05FB-25FD-6ED56A1CD0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10CD11AA-7CBB-3826-7B2A-AC22917A8A46}"/>
              </a:ext>
            </a:extLst>
          </p:cNvPr>
          <p:cNvSpPr txBox="1"/>
          <p:nvPr/>
        </p:nvSpPr>
        <p:spPr>
          <a:xfrm>
            <a:off x="2961501" y="111531"/>
            <a:ext cx="679592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8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vi-VN" sz="28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2: MÔ HÌNH DỮ LIỆU QUAN HỆ</a:t>
            </a:r>
            <a:endParaRPr lang="en-US" sz="280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A18C9F-C3DC-F067-EEA4-247E280100AE}"/>
              </a:ext>
            </a:extLst>
          </p:cNvPr>
          <p:cNvSpPr txBox="1"/>
          <p:nvPr/>
        </p:nvSpPr>
        <p:spPr>
          <a:xfrm>
            <a:off x="402772" y="72728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vi-V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. Các ràng buộc toàn vẹn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9E3C204-DFCF-6AA4-DD75-58A97FBED97C}"/>
              </a:ext>
            </a:extLst>
          </p:cNvPr>
          <p:cNvSpPr txBox="1"/>
          <p:nvPr/>
        </p:nvSpPr>
        <p:spPr>
          <a:xfrm>
            <a:off x="402772" y="1320574"/>
            <a:ext cx="4125685" cy="2998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400" b="1" i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CHECK</a:t>
            </a:r>
            <a:endParaRPr lang="en-US" sz="2400" b="0" i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Aft>
                <a:spcPts val="450"/>
              </a:spcAft>
            </a:pPr>
            <a:r>
              <a:rPr lang="en-US" sz="2400" b="0" i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Kiểm tra giá trị hợp lệ.</a:t>
            </a:r>
            <a:endParaRPr lang="vi-VN" sz="2400" b="0" i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sz="2400" b="0" i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PhanTramGiam từ 0 – 100</a:t>
            </a:r>
            <a:endParaRPr lang="vi-VN" sz="2400" b="0" i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sz="2400" b="0" i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GiaBan &gt;= GiaGoc</a:t>
            </a:r>
            <a:endParaRPr lang="vi-VN" sz="2400" b="0" i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sz="2400" b="0" i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SoLuongNhap &gt; 0</a:t>
            </a:r>
            <a:endParaRPr lang="vi-VN" sz="2400" b="0" i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sz="2400" b="0" i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TonKho &gt;= 0</a:t>
            </a:r>
            <a:endParaRPr lang="vi-VN" sz="2400" b="0" i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sz="2400" b="0" i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TongTien &gt;= 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2C19A8B-A3E7-4E88-5943-156DE89BA5E0}"/>
              </a:ext>
            </a:extLst>
          </p:cNvPr>
          <p:cNvSpPr txBox="1"/>
          <p:nvPr/>
        </p:nvSpPr>
        <p:spPr>
          <a:xfrm>
            <a:off x="5496981" y="1320574"/>
            <a:ext cx="669471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vi-VN" sz="2400" b="1" i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NOT NULL</a:t>
            </a:r>
            <a:endParaRPr lang="vi-VN" sz="2400" b="0" i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vi-VN" sz="2400" b="0" i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Áp dụng cho các thuộc tính bắt buộc như mã, tên, giá, ngày lập, số lượng, tài khoản và mật khẩu.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F1C522-29CD-5738-676F-E154F59B8591}"/>
              </a:ext>
            </a:extLst>
          </p:cNvPr>
          <p:cNvSpPr txBox="1"/>
          <p:nvPr/>
        </p:nvSpPr>
        <p:spPr>
          <a:xfrm>
            <a:off x="5464324" y="3206726"/>
            <a:ext cx="6096000" cy="2564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vi-VN" sz="2400" b="1" i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DEFAULT</a:t>
            </a:r>
            <a:endParaRPr lang="vi-VN" sz="2400" b="0" i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Aft>
                <a:spcPts val="450"/>
              </a:spcAft>
            </a:pPr>
            <a:r>
              <a:rPr lang="vi-VN" sz="2400" b="0" i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Gán giá trị mặc định cho một số trường.</a:t>
            </a:r>
          </a:p>
          <a:p>
            <a:pPr marL="342900" indent="-342900" algn="l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vi-VN" sz="2400" b="0" i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DangHoatDong = 1</a:t>
            </a:r>
            <a:endParaRPr lang="vi-VN" sz="24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vi-VN" sz="2400" b="0" i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DiemTichLuy = 0</a:t>
            </a:r>
            <a:endParaRPr lang="vi-VN" sz="24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vi-VN" sz="2400" b="0" i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TongTien = 0</a:t>
            </a:r>
            <a:endParaRPr lang="vi-VN" sz="24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vi-VN" sz="2400" b="0" i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NgayLap = GETDATE()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123E500-919E-7044-82FF-96613890B481}"/>
              </a:ext>
            </a:extLst>
          </p:cNvPr>
          <p:cNvSpPr txBox="1"/>
          <p:nvPr/>
        </p:nvSpPr>
        <p:spPr>
          <a:xfrm>
            <a:off x="349446" y="4450460"/>
            <a:ext cx="4765738" cy="2003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400" b="1" i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UNIQUE</a:t>
            </a:r>
            <a:endParaRPr lang="en-US" sz="2400" b="0" i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Aft>
                <a:spcPts val="450"/>
              </a:spcAft>
            </a:pPr>
            <a:r>
              <a:rPr lang="en-US" sz="2400" b="0" i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Tránh trùng dữ liệu ở các thuộc tính quan trọng.</a:t>
            </a:r>
          </a:p>
          <a:p>
            <a:pPr algn="l">
              <a:spcAft>
                <a:spcPts val="450"/>
              </a:spcAft>
            </a:pPr>
            <a:r>
              <a:rPr lang="en-US" sz="2400" b="0" i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TenNganh, TenLoai, SDT, TenDangNhap.</a:t>
            </a:r>
          </a:p>
        </p:txBody>
      </p:sp>
    </p:spTree>
    <p:extLst>
      <p:ext uri="{BB962C8B-B14F-4D97-AF65-F5344CB8AC3E}">
        <p14:creationId xmlns:p14="http://schemas.microsoft.com/office/powerpoint/2010/main" val="28521185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C7BEB8B-D01D-1ADB-8AF1-561103EB4333}"/>
              </a:ext>
            </a:extLst>
          </p:cNvPr>
          <p:cNvSpPr txBox="1"/>
          <p:nvPr/>
        </p:nvSpPr>
        <p:spPr>
          <a:xfrm>
            <a:off x="2961501" y="111531"/>
            <a:ext cx="679592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8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vi-VN" sz="28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3</a:t>
            </a:r>
            <a:r>
              <a:rPr lang="en-US" sz="28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vi-VN" sz="28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TRIỂN KHAI SQL QUAN HỆ</a:t>
            </a:r>
            <a:endParaRPr lang="en-US" sz="280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A72366-6FE8-C2E8-6B58-8D85E25F9449}"/>
              </a:ext>
            </a:extLst>
          </p:cNvPr>
          <p:cNvSpPr txBox="1"/>
          <p:nvPr/>
        </p:nvSpPr>
        <p:spPr>
          <a:xfrm>
            <a:off x="359229" y="634751"/>
            <a:ext cx="6096000" cy="5901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vi-VN" sz="2400" b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3.3 Các truy vấn khai thác dữ liệu</a:t>
            </a:r>
            <a:endParaRPr lang="en-US" sz="2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8D5308-1C99-2D7D-B090-BBD4A17207F8}"/>
              </a:ext>
            </a:extLst>
          </p:cNvPr>
          <p:cNvSpPr txBox="1"/>
          <p:nvPr/>
        </p:nvSpPr>
        <p:spPr>
          <a:xfrm>
            <a:off x="391887" y="1224913"/>
            <a:ext cx="6096000" cy="50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000" b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3.3.1. Danh sách mặt hàng đang bán</a:t>
            </a:r>
            <a:endParaRPr lang="en-US" sz="20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B730E5E-B183-8C4F-D56B-78330E539755}"/>
              </a:ext>
            </a:extLst>
          </p:cNvPr>
          <p:cNvSpPr txBox="1"/>
          <p:nvPr/>
        </p:nvSpPr>
        <p:spPr>
          <a:xfrm>
            <a:off x="391887" y="1815075"/>
            <a:ext cx="6096000" cy="1712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8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SELECT MaHang, TenHang, GiaBan, TrangThai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8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FROM MAT_HANG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8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WHERE TrangThai = N'Đang bán';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8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GO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5E0C2A6-EDCD-8B4D-93B9-05A259C1C8A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5883"/>
          <a:stretch>
            <a:fillRect/>
          </a:stretch>
        </p:blipFill>
        <p:spPr>
          <a:xfrm>
            <a:off x="515713" y="3610247"/>
            <a:ext cx="4426402" cy="279971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EB79E6D-2304-DD8C-4E34-F445C8869D11}"/>
              </a:ext>
            </a:extLst>
          </p:cNvPr>
          <p:cNvSpPr txBox="1"/>
          <p:nvPr/>
        </p:nvSpPr>
        <p:spPr>
          <a:xfrm>
            <a:off x="5704113" y="1252397"/>
            <a:ext cx="6096000" cy="50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000" b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3.3.2. INNER JOIN mặt hàng với loại hàng</a:t>
            </a:r>
            <a:endParaRPr lang="en-US" sz="20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330FE69-1EF0-9321-1D1F-7DFF6BA1A6B3}"/>
              </a:ext>
            </a:extLst>
          </p:cNvPr>
          <p:cNvSpPr txBox="1"/>
          <p:nvPr/>
        </p:nvSpPr>
        <p:spPr>
          <a:xfrm>
            <a:off x="5704113" y="1786289"/>
            <a:ext cx="6096000" cy="1712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8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SELECT mh.MaHang, mh.TenHang, lh.TenLoai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8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FROM MAT_HANG mh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8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INNER JOIN LOAI_HANG lh ON mh.MaLoai = lh.MaLoai;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8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GO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F7821C5-BB00-7140-E8AA-21B211BC6F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6025" y="3610247"/>
            <a:ext cx="5972175" cy="280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2547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C057444-5EC6-C910-953B-967E24A4B92B}"/>
              </a:ext>
            </a:extLst>
          </p:cNvPr>
          <p:cNvSpPr txBox="1"/>
          <p:nvPr/>
        </p:nvSpPr>
        <p:spPr>
          <a:xfrm>
            <a:off x="2961501" y="111531"/>
            <a:ext cx="679592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8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vi-VN" sz="28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3</a:t>
            </a:r>
            <a:r>
              <a:rPr lang="en-US" sz="28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vi-VN" sz="28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TRIỂN KHAI SQL QUAN HỆ</a:t>
            </a:r>
            <a:endParaRPr lang="en-US" sz="280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E4460C-D256-4805-26C8-F6AE029814CA}"/>
              </a:ext>
            </a:extLst>
          </p:cNvPr>
          <p:cNvSpPr txBox="1"/>
          <p:nvPr/>
        </p:nvSpPr>
        <p:spPr>
          <a:xfrm>
            <a:off x="391885" y="634751"/>
            <a:ext cx="6096000" cy="465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800" b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3.3.3. LEFT JOIN hóa đơn với khách hàng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77436C-6227-24AB-053A-73D4FBDC3519}"/>
              </a:ext>
            </a:extLst>
          </p:cNvPr>
          <p:cNvSpPr txBox="1"/>
          <p:nvPr/>
        </p:nvSpPr>
        <p:spPr>
          <a:xfrm>
            <a:off x="391885" y="1157971"/>
            <a:ext cx="5704115" cy="2127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8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SELECT hd.MaHD, hd.NgayLap, kh.HoTen, hd.TongTien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8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FROM HOA_DON hd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8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LEFT JOIN KHACH_HANG kh ON hd.MaKH = kh.MaKH;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8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GO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2FC2BA-5AEF-0C3B-D9BF-81ADB3344D72}"/>
              </a:ext>
            </a:extLst>
          </p:cNvPr>
          <p:cNvSpPr txBox="1"/>
          <p:nvPr/>
        </p:nvSpPr>
        <p:spPr>
          <a:xfrm>
            <a:off x="6240234" y="692266"/>
            <a:ext cx="6096000" cy="465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800" b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3.3.4. RIGHT JOIN mặt hàng với chi tiết hóa đơn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AE6285-AEC9-0EAF-119E-64881B0100F7}"/>
              </a:ext>
            </a:extLst>
          </p:cNvPr>
          <p:cNvSpPr txBox="1"/>
          <p:nvPr/>
        </p:nvSpPr>
        <p:spPr>
          <a:xfrm>
            <a:off x="6240234" y="1100456"/>
            <a:ext cx="6096000" cy="2127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8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SELECT mh.TenHang, ct.MaHD, ct.SoLuong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8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FROM MAT_HANG mh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8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RIGHT JOIN CHI_TIET_HOA_DON ct ON mh.MaHang = ct.MaHang;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8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GO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045EA0D-931A-28C7-5437-E8FD1D25B6E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0463"/>
          <a:stretch>
            <a:fillRect/>
          </a:stretch>
        </p:blipFill>
        <p:spPr>
          <a:xfrm>
            <a:off x="6359462" y="3378083"/>
            <a:ext cx="5081424" cy="341092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23AFF43-0D9F-83C0-5095-53BC0208F8C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715"/>
          <a:stretch>
            <a:fillRect/>
          </a:stretch>
        </p:blipFill>
        <p:spPr>
          <a:xfrm>
            <a:off x="391885" y="3429000"/>
            <a:ext cx="5704115" cy="3309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3515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CF0999-AFF5-7603-EDD2-0B361C957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5B8FCBB-FCE7-7752-2466-0BF83EF3E66F}"/>
              </a:ext>
            </a:extLst>
          </p:cNvPr>
          <p:cNvSpPr txBox="1"/>
          <p:nvPr/>
        </p:nvSpPr>
        <p:spPr>
          <a:xfrm>
            <a:off x="2961501" y="111531"/>
            <a:ext cx="679592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8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vi-VN" sz="28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3</a:t>
            </a:r>
            <a:r>
              <a:rPr lang="en-US" sz="28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vi-VN" sz="28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TRIỂN KHAI SQL QUAN HỆ</a:t>
            </a:r>
            <a:endParaRPr lang="en-US" sz="280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BE073E-BFFB-563E-9E82-90FDEA3D93EF}"/>
              </a:ext>
            </a:extLst>
          </p:cNvPr>
          <p:cNvSpPr txBox="1"/>
          <p:nvPr/>
        </p:nvSpPr>
        <p:spPr>
          <a:xfrm>
            <a:off x="263462" y="634751"/>
            <a:ext cx="6096000" cy="465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800" b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3.3.5. GROUP BY doanh thu theo nhân viên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4E0843-0D36-8440-27DB-E1364D68943A}"/>
              </a:ext>
            </a:extLst>
          </p:cNvPr>
          <p:cNvSpPr txBox="1"/>
          <p:nvPr/>
        </p:nvSpPr>
        <p:spPr>
          <a:xfrm>
            <a:off x="263462" y="1100456"/>
            <a:ext cx="6096000" cy="25431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8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SELECT nv.MaNV, nv.HoTen, SUM(hd.TongTien) AS TongDoanhThu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8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FROM HOA_DON hd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8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JOIN NHAN_VIEN nv ON hd.MaNV = nv.MaNV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8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GROUP BY nv.MaNV, nv.HoTen;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8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GO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04A682B-0DD9-A41C-D8DC-952675FE16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1536"/>
          <a:stretch>
            <a:fillRect/>
          </a:stretch>
        </p:blipFill>
        <p:spPr>
          <a:xfrm>
            <a:off x="387288" y="3765686"/>
            <a:ext cx="5077342" cy="245756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45B7510-B5C0-ADB1-404A-2777BC42D8B4}"/>
              </a:ext>
            </a:extLst>
          </p:cNvPr>
          <p:cNvSpPr txBox="1"/>
          <p:nvPr/>
        </p:nvSpPr>
        <p:spPr>
          <a:xfrm>
            <a:off x="5932714" y="634751"/>
            <a:ext cx="6096000" cy="881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800" b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3.3.6. Liệt kê các nhân viên có tổng số lượng mặt hàng đã bán lớn hơn 3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FF003-A210-FDD9-68CA-15CBB44E2930}"/>
              </a:ext>
            </a:extLst>
          </p:cNvPr>
          <p:cNvSpPr txBox="1"/>
          <p:nvPr/>
        </p:nvSpPr>
        <p:spPr>
          <a:xfrm>
            <a:off x="5932714" y="1415332"/>
            <a:ext cx="6096000" cy="33741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800"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SELECT nv.MaNV, nv.HoTen, SUM(ct.SoLuong) AS TongSoLuongDaBan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8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FROM HOA_DON hd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8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JOIN NHAN_VIEN nv ON hd.MaNV = nv.MaNV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8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JOIN CHI_TIET_HOA_DON ct ON hd.MaHD = ct.MaHD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8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GROUP BY nv.MaNV, nv.HoTen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8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HAVING SUM(ct.SoLuong) &gt; 3;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8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GO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36B976D-D98B-8F0D-5815-834EE51F1F6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2686"/>
          <a:stretch>
            <a:fillRect/>
          </a:stretch>
        </p:blipFill>
        <p:spPr>
          <a:xfrm>
            <a:off x="6056541" y="4746014"/>
            <a:ext cx="5077341" cy="2111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2822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FDDCB-3C78-CE58-7C21-386C31E8E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C245D66-2B32-9A9F-CC8C-19250793A2E3}"/>
              </a:ext>
            </a:extLst>
          </p:cNvPr>
          <p:cNvSpPr txBox="1"/>
          <p:nvPr/>
        </p:nvSpPr>
        <p:spPr>
          <a:xfrm>
            <a:off x="2961501" y="111531"/>
            <a:ext cx="679592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8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vi-VN" sz="28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3</a:t>
            </a:r>
            <a:r>
              <a:rPr lang="en-US" sz="28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vi-VN" sz="28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TRIỂN KHAI SQL QUAN HỆ</a:t>
            </a:r>
            <a:endParaRPr lang="en-US" sz="280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E3C209-BEA7-6D35-1F28-CE0690AD7A27}"/>
              </a:ext>
            </a:extLst>
          </p:cNvPr>
          <p:cNvSpPr txBox="1"/>
          <p:nvPr/>
        </p:nvSpPr>
        <p:spPr>
          <a:xfrm>
            <a:off x="261626" y="634751"/>
            <a:ext cx="6097836" cy="881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800" b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3.3.7. Subquery tìm mặt hàng có giá bán cao hơn giá bán trung bình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EEAE80-A482-34CA-905C-D715CC92B89C}"/>
              </a:ext>
            </a:extLst>
          </p:cNvPr>
          <p:cNvSpPr txBox="1"/>
          <p:nvPr/>
        </p:nvSpPr>
        <p:spPr>
          <a:xfrm>
            <a:off x="261626" y="1387404"/>
            <a:ext cx="6097836" cy="2127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8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SELECT MaHang, TenHang, GiaBan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8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FROM MAT_HANG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8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WHERE GiaBan &gt; (SELECT AVG(GiaBan) FROM MAT_HANG);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8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GO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C5532A7-C880-D23E-076C-09B103C4F57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3058"/>
          <a:stretch>
            <a:fillRect/>
          </a:stretch>
        </p:blipFill>
        <p:spPr>
          <a:xfrm>
            <a:off x="387287" y="3675934"/>
            <a:ext cx="5407585" cy="290113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E7C0084-4E6C-DC02-2255-D34FB3ADA977}"/>
              </a:ext>
            </a:extLst>
          </p:cNvPr>
          <p:cNvSpPr txBox="1"/>
          <p:nvPr/>
        </p:nvSpPr>
        <p:spPr>
          <a:xfrm>
            <a:off x="6096000" y="609647"/>
            <a:ext cx="6097836" cy="465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800" b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3.3.8. Aggregate function COUNT, SUM, AVG, MAX, MIN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762296-D122-A686-60C7-6E6965959D7E}"/>
              </a:ext>
            </a:extLst>
          </p:cNvPr>
          <p:cNvSpPr txBox="1"/>
          <p:nvPr/>
        </p:nvSpPr>
        <p:spPr>
          <a:xfrm>
            <a:off x="6096000" y="1075352"/>
            <a:ext cx="6097836" cy="33741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8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SELECT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8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COUNT(*) AS SoMatHang,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8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SUM(GiaBan) AS TongGiaBan,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8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AVG(GiaBan) AS GiaTrungBinh,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8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MAX(GiaBan) AS GiaCaoNhat,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8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MIN(GiaBan) AS GiaThapNhat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8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FROM MAT_HANG;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8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GO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B10780F-B977-7070-6F71-09C9277CD9E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15" t="5197" r="52495" b="-5197"/>
          <a:stretch>
            <a:fillRect/>
          </a:stretch>
        </p:blipFill>
        <p:spPr>
          <a:xfrm>
            <a:off x="6272671" y="4449545"/>
            <a:ext cx="5744493" cy="2452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5623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FED63-1D1A-8420-8556-F0FD371E2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24CFE8E-4141-8D2C-0806-B013041C8DD0}"/>
              </a:ext>
            </a:extLst>
          </p:cNvPr>
          <p:cNvSpPr txBox="1"/>
          <p:nvPr/>
        </p:nvSpPr>
        <p:spPr>
          <a:xfrm>
            <a:off x="2961501" y="111531"/>
            <a:ext cx="679592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8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vi-VN" sz="28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3</a:t>
            </a:r>
            <a:r>
              <a:rPr lang="en-US" sz="28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vi-VN" sz="28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TRIỂN KHAI SQL QUAN HỆ</a:t>
            </a:r>
            <a:endParaRPr lang="en-US" sz="280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2D021C-5311-F39E-9E5A-BAABADAB5DDE}"/>
              </a:ext>
            </a:extLst>
          </p:cNvPr>
          <p:cNvSpPr txBox="1"/>
          <p:nvPr/>
        </p:nvSpPr>
        <p:spPr>
          <a:xfrm>
            <a:off x="261626" y="735242"/>
            <a:ext cx="60978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3.3.9. Tổng tồn kho theo mặt hàng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7B8ED6-5932-1008-4FD0-9BA439954A34}"/>
              </a:ext>
            </a:extLst>
          </p:cNvPr>
          <p:cNvSpPr txBox="1"/>
          <p:nvPr/>
        </p:nvSpPr>
        <p:spPr>
          <a:xfrm>
            <a:off x="261626" y="1205065"/>
            <a:ext cx="6097836" cy="25431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8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SELECT mh.MaHang, mh.TenHang, SUM(lh.TonKho) AS TongTonKho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8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FROM MAT_HANG mh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8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JOIN LO_HANG lh ON mh.MaHang = lh.MaHang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8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GROUP BY mh.MaHang, mh.TenHang;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8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GO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60FDE53-06B1-29BC-CA3F-2F18145BA71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4988"/>
          <a:stretch>
            <a:fillRect/>
          </a:stretch>
        </p:blipFill>
        <p:spPr>
          <a:xfrm>
            <a:off x="387287" y="3848753"/>
            <a:ext cx="5077079" cy="280162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481C056-F9D6-8CBA-50E9-9A975D14829B}"/>
              </a:ext>
            </a:extLst>
          </p:cNvPr>
          <p:cNvSpPr txBox="1"/>
          <p:nvPr/>
        </p:nvSpPr>
        <p:spPr>
          <a:xfrm>
            <a:off x="5832538" y="667909"/>
            <a:ext cx="6097836" cy="465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800" b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3.3.10. Top 5 mặt hàng bán chạy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693211-4F9F-9799-04E0-93ECBDE0F2A8}"/>
              </a:ext>
            </a:extLst>
          </p:cNvPr>
          <p:cNvSpPr txBox="1"/>
          <p:nvPr/>
        </p:nvSpPr>
        <p:spPr>
          <a:xfrm>
            <a:off x="5835268" y="1205173"/>
            <a:ext cx="6356732" cy="2958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8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SELECT TOP 5 mh.MaHang, mh.TenHang, SUM(ct.SoLuong) AS TongBan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8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FROM CHI_TIET_HOA_DON ct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8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JOIN MAT_HANG mh ON ct.MaHang = mh.MaHang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8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GROUP BY mh.MaHang, mh.TenHang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8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ORDER BY SUM(ct.SoLuong) DESC;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8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GO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6FE0FBF-F351-F1E3-EF0D-45D41620C71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2919"/>
          <a:stretch>
            <a:fillRect/>
          </a:stretch>
        </p:blipFill>
        <p:spPr>
          <a:xfrm>
            <a:off x="5958199" y="4144361"/>
            <a:ext cx="5323073" cy="2190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0267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633C9E-CAD1-D6E7-AB90-C87B4E324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4EDD5C6-E3E5-D45C-74C3-D37A6128C247}"/>
              </a:ext>
            </a:extLst>
          </p:cNvPr>
          <p:cNvSpPr txBox="1"/>
          <p:nvPr/>
        </p:nvSpPr>
        <p:spPr>
          <a:xfrm>
            <a:off x="2961501" y="111531"/>
            <a:ext cx="679592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8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vi-VN" sz="28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3</a:t>
            </a:r>
            <a:r>
              <a:rPr lang="en-US" sz="28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vi-VN" sz="28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TRIỂN KHAI SQL QUAN HỆ</a:t>
            </a:r>
            <a:endParaRPr lang="en-US" sz="280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66F0F8-0C16-2626-BE3F-7DAF773C7EAA}"/>
              </a:ext>
            </a:extLst>
          </p:cNvPr>
          <p:cNvSpPr txBox="1"/>
          <p:nvPr/>
        </p:nvSpPr>
        <p:spPr>
          <a:xfrm>
            <a:off x="349785" y="521803"/>
            <a:ext cx="6097836" cy="465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vi-VN" sz="1800" b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3.4 Xây dựng các Stored Procedure và Trigger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9505BCD-712F-9CB6-E4FE-19C8F5D6A395}"/>
              </a:ext>
            </a:extLst>
          </p:cNvPr>
          <p:cNvSpPr txBox="1"/>
          <p:nvPr/>
        </p:nvSpPr>
        <p:spPr>
          <a:xfrm>
            <a:off x="349785" y="1045023"/>
            <a:ext cx="6097836" cy="465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vi-VN" sz="1800" b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3.4.1 </a:t>
            </a:r>
            <a:r>
              <a:rPr lang="en-US" sz="1800" b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Function fn_KiemTraTonKho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906BB9-F3EC-1F1A-16B1-7C05661A0A77}"/>
              </a:ext>
            </a:extLst>
          </p:cNvPr>
          <p:cNvSpPr txBox="1"/>
          <p:nvPr/>
        </p:nvSpPr>
        <p:spPr>
          <a:xfrm>
            <a:off x="349785" y="1510728"/>
            <a:ext cx="6403555" cy="4907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CREATE OR ALTER FUNCTION fn_KiemTraTonKho (@MaHang VARCHAR(10))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RETURNS NVARCHAR(30)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AS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BEGIN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RETURN (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    SELECT CASE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        WHEN SUM(TonKho) IS NULL OR SUM(TonKho) = 0 THEN N'Hết hàng'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        WHEN SUM(TonKho) &lt;= 20 THEN N'Sắp hết'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        ELSE N'Còn hàng'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    END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    FROM LO_HANG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    WHERE MaHang = @MaHang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);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END;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GO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07AB67F-7130-44B1-1581-972A7E8090B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5458"/>
          <a:stretch>
            <a:fillRect/>
          </a:stretch>
        </p:blipFill>
        <p:spPr>
          <a:xfrm>
            <a:off x="6678975" y="1510728"/>
            <a:ext cx="5163240" cy="2248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6760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E804DD-AD09-68E8-3155-34DA1B33A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7C30F78-1B28-4139-70A5-343BA9061D9B}"/>
              </a:ext>
            </a:extLst>
          </p:cNvPr>
          <p:cNvSpPr txBox="1"/>
          <p:nvPr/>
        </p:nvSpPr>
        <p:spPr>
          <a:xfrm>
            <a:off x="2961501" y="111531"/>
            <a:ext cx="679592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8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vi-VN" sz="28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3</a:t>
            </a:r>
            <a:r>
              <a:rPr lang="en-US" sz="28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vi-VN" sz="28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TRIỂN KHAI SQL QUAN HỆ</a:t>
            </a:r>
            <a:endParaRPr lang="en-US" sz="280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658931-1F4B-05E8-F14A-937CB3917E07}"/>
              </a:ext>
            </a:extLst>
          </p:cNvPr>
          <p:cNvSpPr txBox="1"/>
          <p:nvPr/>
        </p:nvSpPr>
        <p:spPr>
          <a:xfrm>
            <a:off x="261626" y="634751"/>
            <a:ext cx="60978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1800" b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3.4.2 Trigger </a:t>
            </a:r>
            <a:r>
              <a:rPr lang="en-US" sz="1800" b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TRG_CapNhatTongTienHoaDon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DE3023-3018-57D7-9C39-534E3245BB67}"/>
              </a:ext>
            </a:extLst>
          </p:cNvPr>
          <p:cNvSpPr txBox="1"/>
          <p:nvPr/>
        </p:nvSpPr>
        <p:spPr>
          <a:xfrm>
            <a:off x="363558" y="925417"/>
            <a:ext cx="5210978" cy="5876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CREATE OR ALTER TRIGGER TRG_CapNhatTongTienHoaDon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ON CHI_TIET_HOA_DON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AFTER INSERT, UPDATE, DELETE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AS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BEGIN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SET NOCOUNT ON;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;WITH DanhSachHoaDon AS (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    SELECT MaHD FROM inserted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    UNION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    SELECT MaHD FROM deleted)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UPDATE hd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SET TongTien = ISNULL((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    SELECT SUM(ct.SoLuong * ct.DonGiaBan)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    FROM CHI_TIET_HOA_DON ct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    WHERE ct.MaHD = hd.MaHD), 0)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FROM HOA_DON hd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JOIN DanhSachHoaDon ds ON ds.MaHD = hd.MaHD;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END;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70AC08-F5C8-8584-68AF-C0E9A6CB92A4}"/>
              </a:ext>
            </a:extLst>
          </p:cNvPr>
          <p:cNvSpPr txBox="1"/>
          <p:nvPr/>
        </p:nvSpPr>
        <p:spPr>
          <a:xfrm>
            <a:off x="6181581" y="547232"/>
            <a:ext cx="6097836" cy="465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vi-VN" sz="1800" b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Kiểm tra: 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A023CB8-4B58-26CD-B617-DB686F51158D}"/>
              </a:ext>
            </a:extLst>
          </p:cNvPr>
          <p:cNvSpPr txBox="1"/>
          <p:nvPr/>
        </p:nvSpPr>
        <p:spPr>
          <a:xfrm>
            <a:off x="5434617" y="853830"/>
            <a:ext cx="6393825" cy="3937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-- Tao hoa don 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INSERT INTO HOA_DON (MaHD, NgayLap, TongTien, MaNV, MaKM, MaKH, PhuongThucThanhToan, TrangThai)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VALUES ('HD_TEST', GETDATE(), 0, 'NV01', 'KM20', 'KH01', N'Tiền mặt', N'Hoàn tất');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-- Them chi tiet hoa don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INSERT INTO CHI_TIET_HOA_DON (MaHD, MaHang, SoLuong, DonGiaBan)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VALUES ('HD_TEST', 'MH01', 2, 365000);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-- Kiem tra TongTien da duoc cap nhat chua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SELECT MaHD, TongTien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FROM HOA_DON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WHERE MaHD = 'HD_TEST';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619FD1D-7678-0881-E6ED-C6044A77850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" t="57225" r="39978" b="601"/>
          <a:stretch>
            <a:fillRect/>
          </a:stretch>
        </p:blipFill>
        <p:spPr>
          <a:xfrm>
            <a:off x="5515931" y="4791383"/>
            <a:ext cx="5354196" cy="1925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77421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B172B-360E-03EF-ECE5-66264528F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E77FC77-A105-E1EB-4857-44CCABDC96FD}"/>
              </a:ext>
            </a:extLst>
          </p:cNvPr>
          <p:cNvSpPr txBox="1"/>
          <p:nvPr/>
        </p:nvSpPr>
        <p:spPr>
          <a:xfrm>
            <a:off x="2961501" y="111531"/>
            <a:ext cx="679592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8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vi-VN" sz="28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3</a:t>
            </a:r>
            <a:r>
              <a:rPr lang="en-US" sz="28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vi-VN" sz="28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TRIỂN KHAI SQL QUAN HỆ</a:t>
            </a:r>
            <a:endParaRPr lang="en-US" sz="280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2DD3D2-8CBE-DF80-770E-AD14CCCCFEE0}"/>
              </a:ext>
            </a:extLst>
          </p:cNvPr>
          <p:cNvSpPr txBox="1"/>
          <p:nvPr/>
        </p:nvSpPr>
        <p:spPr>
          <a:xfrm>
            <a:off x="261626" y="521804"/>
            <a:ext cx="6097836" cy="465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800" b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3</a:t>
            </a:r>
            <a:r>
              <a:rPr lang="vi-VN" sz="1800" b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.4.3 Trigger </a:t>
            </a:r>
            <a:r>
              <a:rPr lang="en-US" sz="1800" b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TRG_TruTonKho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9A72EA-22AE-A14D-344F-5C3FCFF38A0A}"/>
              </a:ext>
            </a:extLst>
          </p:cNvPr>
          <p:cNvSpPr txBox="1"/>
          <p:nvPr/>
        </p:nvSpPr>
        <p:spPr>
          <a:xfrm>
            <a:off x="261626" y="901055"/>
            <a:ext cx="4277323" cy="5553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CREATE OR ALTER TRIGGER TRG_TruTonKho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ON CHI_TIET_HOA_DON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AFTER INSERT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AS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BEGIN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SET NOCOUNT ON;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UPDATE lh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SET TonKho = lh.TonKho - i.SoLuong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FROM LO_HANG lh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JOIN inserted i ON i.MaHang = lh.MaHang;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IF EXISTS (SELECT 1 FROM LO_HANG WHERE TonKho &lt; 0)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BEGIN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    RAISERROR (N'Tồn kho không đủ để bán.', 16, 1);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    ROLLBACK TRANSACTION;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END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END;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3B18E1-E325-2960-5C72-0245BBA77AA5}"/>
              </a:ext>
            </a:extLst>
          </p:cNvPr>
          <p:cNvSpPr txBox="1"/>
          <p:nvPr/>
        </p:nvSpPr>
        <p:spPr>
          <a:xfrm>
            <a:off x="4554622" y="901055"/>
            <a:ext cx="7007643" cy="3937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SELECT MaHang, TonKho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FROM LO_HANG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WHERE MaHang = 'MH01';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GO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INSERT INTO HOA_DON (MaHD, NgayLap, TongTien, MaNV, MaKM, MaKH, PhuongThucThanhToan, TrangThai)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VALUES ('HD_TEST2', GETDATE(), 0, 'NV01', 'KM20', 'KH01', N'Tiền mặt', N'Hoàn tất');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INSERT INTO CHI_TIET_HOA_DON (MaHD, MaHang, SoLuong, DonGiaBan)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VALUES ('HD_TEST2', 'MH01', 1, 365000);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SELECT MaHang, TonKho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FROM LO_HANG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WHERE MaHang = 'MH01';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CA4ABB8-3E77-55F9-A08A-D16E5C524152}"/>
              </a:ext>
            </a:extLst>
          </p:cNvPr>
          <p:cNvSpPr txBox="1"/>
          <p:nvPr/>
        </p:nvSpPr>
        <p:spPr>
          <a:xfrm>
            <a:off x="4554622" y="535051"/>
            <a:ext cx="6097836" cy="465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vi-VN" sz="1800" b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Kiểm tra: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13C90D3-A345-D78E-C5D6-56B7877CD7C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7858" r="28238"/>
          <a:stretch>
            <a:fillRect/>
          </a:stretch>
        </p:blipFill>
        <p:spPr>
          <a:xfrm>
            <a:off x="4653774" y="4838608"/>
            <a:ext cx="5202802" cy="1641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60914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584CF7-C9FF-E5D6-7ACD-A17F0A21D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E333325-8683-3322-C290-7976112709E4}"/>
              </a:ext>
            </a:extLst>
          </p:cNvPr>
          <p:cNvSpPr txBox="1"/>
          <p:nvPr/>
        </p:nvSpPr>
        <p:spPr>
          <a:xfrm>
            <a:off x="2961501" y="111531"/>
            <a:ext cx="679592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8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vi-VN" sz="28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3</a:t>
            </a:r>
            <a:r>
              <a:rPr lang="en-US" sz="28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vi-VN" sz="28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TRIỂN KHAI SQL QUAN HỆ</a:t>
            </a:r>
            <a:endParaRPr lang="en-US" sz="280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254786-3478-6A37-E487-4EDFCB683E2B}"/>
              </a:ext>
            </a:extLst>
          </p:cNvPr>
          <p:cNvSpPr txBox="1"/>
          <p:nvPr/>
        </p:nvSpPr>
        <p:spPr>
          <a:xfrm>
            <a:off x="261626" y="499770"/>
            <a:ext cx="6097836" cy="465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800" b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3</a:t>
            </a:r>
            <a:r>
              <a:rPr lang="vi-VN" sz="1800" b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.4.5 </a:t>
            </a:r>
            <a:r>
              <a:rPr lang="en-US" sz="1800" b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Procedure SP_NhapLoHang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DA967B-D832-F6D4-21BE-7D20D7385F28}"/>
              </a:ext>
            </a:extLst>
          </p:cNvPr>
          <p:cNvSpPr txBox="1"/>
          <p:nvPr/>
        </p:nvSpPr>
        <p:spPr>
          <a:xfrm>
            <a:off x="261626" y="965475"/>
            <a:ext cx="7945940" cy="5876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CREATE OR ALTER PROCEDURE SP_NhapLoHang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@MaLo VARCHAR(10),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@TenLo NVARCHAR(80),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@MaHang VARCHAR(10),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@SoLuongNhap INT,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@TenVT NVARCHAR(100),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@NgayNhap DATE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AS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BEGIN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SET NOCOUNT ON;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IF @SoLuongNhap &lt;= 0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BEGIN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    RAISERROR (N'Số lượng nhập phải lớn hơn 0.', 16, 1);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    RETURN;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END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INSERT INTO LO_HANG (MaLo, TenLo, MaHang, SoLuongNhap, TonKho, TenVT, NgayNhap)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VALUES (@MaLo, @TenLo, @MaHang, @SoLuongNhap, @SoLuongNhap, @TenVT, @NgayNhap);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END;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00532F-B584-D37D-C118-62E439280793}"/>
              </a:ext>
            </a:extLst>
          </p:cNvPr>
          <p:cNvSpPr txBox="1"/>
          <p:nvPr/>
        </p:nvSpPr>
        <p:spPr>
          <a:xfrm>
            <a:off x="6094164" y="529743"/>
            <a:ext cx="6097836" cy="465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vi-VN" sz="1800" b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Kiểm tra: 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F4C3E8D-4A37-C9E5-412F-4ABE96B8B5F6}"/>
              </a:ext>
            </a:extLst>
          </p:cNvPr>
          <p:cNvSpPr txBox="1"/>
          <p:nvPr/>
        </p:nvSpPr>
        <p:spPr>
          <a:xfrm>
            <a:off x="6124612" y="1052963"/>
            <a:ext cx="5608352" cy="881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8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EXEC SP_NhapLoHang 'L021', N'Lo bo sung sua 02', 'MH01', 0, N'Ke sua A3', '2026-03-12';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B52EB81-5750-1948-B4FC-AA7D54757F3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2415"/>
          <a:stretch>
            <a:fillRect/>
          </a:stretch>
        </p:blipFill>
        <p:spPr>
          <a:xfrm>
            <a:off x="6124613" y="1991681"/>
            <a:ext cx="5960892" cy="1886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62456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C8305E-997F-8341-7A65-B0CDD5BBF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B01F1F3-436A-FD31-EC3F-B482EF0BDAF5}"/>
              </a:ext>
            </a:extLst>
          </p:cNvPr>
          <p:cNvSpPr txBox="1"/>
          <p:nvPr/>
        </p:nvSpPr>
        <p:spPr>
          <a:xfrm>
            <a:off x="2961501" y="111531"/>
            <a:ext cx="679592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8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vi-VN" sz="28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3</a:t>
            </a:r>
            <a:r>
              <a:rPr lang="en-US" sz="28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vi-VN" sz="28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TRIỂN KHAI SQL QUAN HỆ</a:t>
            </a:r>
            <a:endParaRPr lang="en-US" sz="280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A38D3C-D79A-4F5F-8439-D290882DC9C6}"/>
              </a:ext>
            </a:extLst>
          </p:cNvPr>
          <p:cNvSpPr txBox="1"/>
          <p:nvPr/>
        </p:nvSpPr>
        <p:spPr>
          <a:xfrm>
            <a:off x="261626" y="532820"/>
            <a:ext cx="6097836" cy="465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800" b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3</a:t>
            </a:r>
            <a:r>
              <a:rPr lang="vi-VN" sz="1800" b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.4.6 </a:t>
            </a:r>
            <a:r>
              <a:rPr lang="en-US" sz="1800" b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Procedure SP_BaoCaoDoanhThu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DE9378-3612-3CB4-4E91-19F22E79F58B}"/>
              </a:ext>
            </a:extLst>
          </p:cNvPr>
          <p:cNvSpPr txBox="1"/>
          <p:nvPr/>
        </p:nvSpPr>
        <p:spPr>
          <a:xfrm>
            <a:off x="261625" y="998525"/>
            <a:ext cx="6238327" cy="5876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CREATE OR ALTER PROCEDURE SP_BaoCaoDoanhThu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@TuNgay DATE,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@DenNgay DATE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AS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BEGIN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SET NOCOUNT ON;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SELECT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    CAST(NgayLap AS DATE) AS Ngay,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    COUNT(*) AS SoHoaDon,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    SUM(TongTien) AS DoanhThu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FROM HOA_DON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WHERE CAST(NgayLap AS DATE) BETWEEN @TuNgay AND @DenNgay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  AND TrangThai = N'Hoàn tất'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GROUP BY CAST(NgayLap AS DATE)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ORDER BY Ngay;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END;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GO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AC0E147-DE07-AD2D-1578-0A8BEB5A7110}"/>
              </a:ext>
            </a:extLst>
          </p:cNvPr>
          <p:cNvSpPr txBox="1"/>
          <p:nvPr/>
        </p:nvSpPr>
        <p:spPr>
          <a:xfrm>
            <a:off x="6499952" y="998525"/>
            <a:ext cx="6097836" cy="3827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EXEC SP_BaoCaoDoanhThu '2026-03-01', '2026-03-10';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944AE42-7591-EA63-D050-50725A5701BD}"/>
              </a:ext>
            </a:extLst>
          </p:cNvPr>
          <p:cNvSpPr txBox="1"/>
          <p:nvPr/>
        </p:nvSpPr>
        <p:spPr>
          <a:xfrm>
            <a:off x="6499952" y="532819"/>
            <a:ext cx="6301648" cy="465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vi-VN" sz="1800" b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kiểm tra: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C5207EA-AD63-93D7-BC92-BA8BF00824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1716"/>
          <a:stretch>
            <a:fillRect/>
          </a:stretch>
        </p:blipFill>
        <p:spPr>
          <a:xfrm>
            <a:off x="6562782" y="1679857"/>
            <a:ext cx="4321883" cy="2550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90334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74ABDE-EA00-EF9F-5D42-308866E82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EBFF83-009E-B9F9-6688-FD3897B62572}"/>
              </a:ext>
            </a:extLst>
          </p:cNvPr>
          <p:cNvSpPr txBox="1"/>
          <p:nvPr/>
        </p:nvSpPr>
        <p:spPr>
          <a:xfrm>
            <a:off x="2961501" y="111531"/>
            <a:ext cx="679592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8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vi-VN" sz="28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3</a:t>
            </a:r>
            <a:r>
              <a:rPr lang="en-US" sz="28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vi-VN" sz="28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TRIỂN KHAI SQL QUAN HỆ</a:t>
            </a:r>
            <a:endParaRPr lang="en-US" sz="280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2CCECC-88F0-B76A-D1CC-E316CC631610}"/>
              </a:ext>
            </a:extLst>
          </p:cNvPr>
          <p:cNvSpPr txBox="1"/>
          <p:nvPr/>
        </p:nvSpPr>
        <p:spPr>
          <a:xfrm>
            <a:off x="261626" y="499769"/>
            <a:ext cx="6097836" cy="465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800" b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3</a:t>
            </a:r>
            <a:r>
              <a:rPr lang="vi-VN" sz="1800" b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.4.6 </a:t>
            </a:r>
            <a:r>
              <a:rPr lang="en-US" sz="1800" b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Procedure _TopMatHangBanChay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845A4F-BD6D-176D-528D-AC52AF86A9A8}"/>
              </a:ext>
            </a:extLst>
          </p:cNvPr>
          <p:cNvSpPr txBox="1"/>
          <p:nvPr/>
        </p:nvSpPr>
        <p:spPr>
          <a:xfrm>
            <a:off x="261626" y="1102306"/>
            <a:ext cx="6097836" cy="5230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CREATE OR ALTER PROCEDURE SP_TopMatHangBanChay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@TopN INT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AS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BEGIN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SET NOCOUNT ON;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SELECT TOP (@TopN)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    mh.MaHang,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    mh.TenHang,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    SUM(ct.SoLuong) AS TongSoLuongBan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FROM CHI_TIET_HOA_DON ct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JOIN MAT_HANG mh ON mh.MaHang = ct.MaHang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JOIN HOA_DON hd ON hd.MaHD = ct.MaHD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WHERE hd.TrangThai = N'Hoàn tất'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GROUP BY mh.MaHang, mh.TenHang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ORDER BY SUM(ct.SoLuong) DESC, mh.MaHang;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END;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9A834C-47A2-9CAC-69EE-620D47005869}"/>
              </a:ext>
            </a:extLst>
          </p:cNvPr>
          <p:cNvSpPr txBox="1"/>
          <p:nvPr/>
        </p:nvSpPr>
        <p:spPr>
          <a:xfrm>
            <a:off x="6497198" y="1102306"/>
            <a:ext cx="6097836" cy="3827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EXEC SP_TopMatHangBanChay 5;</a:t>
            </a:r>
            <a:endParaRPr lang="en-US" sz="1400">
              <a:highlight>
                <a:srgbClr val="00FF00"/>
              </a:highlight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83EF560-F9B9-96BC-8589-C53EFBFBDA1B}"/>
              </a:ext>
            </a:extLst>
          </p:cNvPr>
          <p:cNvSpPr txBox="1"/>
          <p:nvPr/>
        </p:nvSpPr>
        <p:spPr>
          <a:xfrm>
            <a:off x="6499952" y="532819"/>
            <a:ext cx="6301648" cy="465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vi-VN" sz="1800" b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kiểm tra: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9D4FCB7-82F9-0F3F-1858-6064BD50B93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3973"/>
          <a:stretch>
            <a:fillRect/>
          </a:stretch>
        </p:blipFill>
        <p:spPr>
          <a:xfrm>
            <a:off x="6560029" y="1872458"/>
            <a:ext cx="4798362" cy="2049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8124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434CA-3324-3CF7-94D2-9E0892878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79BB412-518F-2E6B-92DD-3DC0CFE3710F}"/>
              </a:ext>
            </a:extLst>
          </p:cNvPr>
          <p:cNvSpPr txBox="1"/>
          <p:nvPr/>
        </p:nvSpPr>
        <p:spPr>
          <a:xfrm>
            <a:off x="2961501" y="111531"/>
            <a:ext cx="679592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8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vi-VN" sz="28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3</a:t>
            </a:r>
            <a:r>
              <a:rPr lang="en-US" sz="28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vi-VN" sz="28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TRIỂN KHAI SQL QUAN HỆ</a:t>
            </a:r>
            <a:endParaRPr lang="en-US" sz="280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BCC685-0BC1-08F6-2D8C-45D3F7C90DAD}"/>
              </a:ext>
            </a:extLst>
          </p:cNvPr>
          <p:cNvSpPr txBox="1"/>
          <p:nvPr/>
        </p:nvSpPr>
        <p:spPr>
          <a:xfrm>
            <a:off x="448937" y="552234"/>
            <a:ext cx="6097836" cy="465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vi-VN" sz="1800" b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3.5 Xây dựng các View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28FFDE-68C9-7572-E72F-3E618ECCEF8E}"/>
              </a:ext>
            </a:extLst>
          </p:cNvPr>
          <p:cNvSpPr txBox="1"/>
          <p:nvPr/>
        </p:nvSpPr>
        <p:spPr>
          <a:xfrm>
            <a:off x="448937" y="987509"/>
            <a:ext cx="6097836" cy="465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vi-VN" sz="1800" b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3.5.1 View </a:t>
            </a:r>
            <a:r>
              <a:rPr lang="en-US" sz="1800" b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VW_DoanhThuNgay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D69584-7F58-EDE5-A576-587BBA4CEAF3}"/>
              </a:ext>
            </a:extLst>
          </p:cNvPr>
          <p:cNvSpPr txBox="1"/>
          <p:nvPr/>
        </p:nvSpPr>
        <p:spPr>
          <a:xfrm>
            <a:off x="448937" y="1427170"/>
            <a:ext cx="6097836" cy="2968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CREATE OR ALTER VIEW VW_DoanhThuNgay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AS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SELECT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CAST(NgayLap AS DATE) AS Ngay,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COUNT(*) AS SoHoaDon,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SUM(TongTien) AS DoanhThu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FROM HOA_DON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WHERE TrangThai = N'Hoàn tất'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GROUP BY CAST(NgayLap AS DATE);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81BF596-DD12-29C5-067B-BB320403086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4228"/>
          <a:stretch>
            <a:fillRect/>
          </a:stretch>
        </p:blipFill>
        <p:spPr>
          <a:xfrm>
            <a:off x="448937" y="4421271"/>
            <a:ext cx="4489891" cy="230523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1763E6F-4C6F-5B03-9432-026783BF07B8}"/>
              </a:ext>
            </a:extLst>
          </p:cNvPr>
          <p:cNvSpPr txBox="1"/>
          <p:nvPr/>
        </p:nvSpPr>
        <p:spPr>
          <a:xfrm>
            <a:off x="6181581" y="511421"/>
            <a:ext cx="6097836" cy="465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vi-VN" sz="1800" b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3.5.2 View </a:t>
            </a:r>
            <a:r>
              <a:rPr lang="en-US" sz="1800" b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VW_TonKhoMatHang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CD19128-DC13-05CA-E900-2F94434C6FE4}"/>
              </a:ext>
            </a:extLst>
          </p:cNvPr>
          <p:cNvSpPr txBox="1"/>
          <p:nvPr/>
        </p:nvSpPr>
        <p:spPr>
          <a:xfrm>
            <a:off x="6215766" y="926429"/>
            <a:ext cx="6097836" cy="26448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CREATE OR ALTER VIEW VW_TonKhoMatHang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AS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SELECT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mh.MaHang,</a:t>
            </a:r>
            <a:r>
              <a:rPr lang="vi-VN" sz="1400">
                <a:highlight>
                  <a:srgbClr val="00FF00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mh.TenHang,</a:t>
            </a:r>
            <a:r>
              <a:rPr lang="vi-VN" sz="1400">
                <a:highlight>
                  <a:srgbClr val="00FF00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SUM(lh.TonKho) AS TongTonKho,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dbo.fn_KiemTraTonKho(mh.MaHang) AS TrangThaiTonKho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FROM MAT_HANG mh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LEFT JOIN LO_HANG lh ON lh.MaHang = mh.MaHang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GROUP BY mh.MaHang, mh.TenHang;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45DB875-66E3-7ACD-9C3A-11BCDB8768E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9700"/>
          <a:stretch>
            <a:fillRect/>
          </a:stretch>
        </p:blipFill>
        <p:spPr>
          <a:xfrm>
            <a:off x="6359462" y="3581703"/>
            <a:ext cx="4489891" cy="3224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7449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9A8B9B-19E2-261F-3BFD-B87F760E2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3589ED6-642C-EC23-0EE6-8D00E1F6AF93}"/>
              </a:ext>
            </a:extLst>
          </p:cNvPr>
          <p:cNvSpPr txBox="1"/>
          <p:nvPr/>
        </p:nvSpPr>
        <p:spPr>
          <a:xfrm>
            <a:off x="2961501" y="111531"/>
            <a:ext cx="679592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8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vi-VN" sz="28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3</a:t>
            </a:r>
            <a:r>
              <a:rPr lang="en-US" sz="28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vi-VN" sz="28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TRIỂN KHAI SQL QUAN HỆ</a:t>
            </a:r>
            <a:endParaRPr lang="en-US" sz="280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DDA473-C87A-44B1-5FDD-70E431ABFD09}"/>
              </a:ext>
            </a:extLst>
          </p:cNvPr>
          <p:cNvSpPr txBox="1"/>
          <p:nvPr/>
        </p:nvSpPr>
        <p:spPr>
          <a:xfrm>
            <a:off x="261626" y="634751"/>
            <a:ext cx="6097836" cy="465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vi-VN" sz="1800" b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3.5.3 View </a:t>
            </a:r>
            <a:r>
              <a:rPr lang="en-US" sz="1800" b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VW_ChiTietBanHang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748BDA-A89B-F6CA-A0C5-6B99B8C2D465}"/>
              </a:ext>
            </a:extLst>
          </p:cNvPr>
          <p:cNvSpPr txBox="1"/>
          <p:nvPr/>
        </p:nvSpPr>
        <p:spPr>
          <a:xfrm>
            <a:off x="261626" y="1100456"/>
            <a:ext cx="6097836" cy="5230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CREATE OR ALTER VIEW VW_ChiTietBanHang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AS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SELECT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hd.MaHD,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CAST(hd.NgayLap AS DATE) AS NgayLap,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nv.HoTen AS TenNhanVien,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kh.HoTen AS TenKhachHang,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mh.TenHang,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ct.SoLuong,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ct.DonGiaBan,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ct.SoLuong * ct.DonGiaBan AS ThanhTien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FROM HOA_DON hd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JOIN NHAN_VIEN nv ON nv.MaNV = hd.MaNV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LEFT JOIN KHACH_HANG kh ON kh.MaKH = hd.MaKH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JOIN CHI_TIET_HOA_DON ct ON ct.MaHD = hd.MaHD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JOIN MAT_HANG mh ON mh.MaHang = ct.MaHang;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276F7AE-B9B9-777D-8995-F56BDADB5ED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3200"/>
          <a:stretch>
            <a:fillRect/>
          </a:stretch>
        </p:blipFill>
        <p:spPr>
          <a:xfrm>
            <a:off x="4750530" y="1157971"/>
            <a:ext cx="7179844" cy="4320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1954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D1235C-2F04-06DA-6898-6050B211593B}"/>
              </a:ext>
            </a:extLst>
          </p:cNvPr>
          <p:cNvSpPr txBox="1"/>
          <p:nvPr/>
        </p:nvSpPr>
        <p:spPr>
          <a:xfrm>
            <a:off x="6590662" y="4267832"/>
            <a:ext cx="4805996" cy="129711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700" b="1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CẢM ƠN THẦY VÀ CÁC BẠN ĐÃ LẮNG NGHE!</a:t>
            </a:r>
            <a:endParaRPr lang="en-US" sz="3700" b="1" kern="1200">
              <a:solidFill>
                <a:schemeClr val="tx2"/>
              </a:solidFill>
              <a:effectLst/>
              <a:latin typeface="+mj-lt"/>
              <a:ea typeface="+mj-ea"/>
              <a:cs typeface="+mj-cs"/>
            </a:endParaRPr>
          </a:p>
        </p:txBody>
      </p:sp>
      <p:pic>
        <p:nvPicPr>
          <p:cNvPr id="7" name="Graphic 6" descr="Fingerprint">
            <a:extLst>
              <a:ext uri="{FF2B5EF4-FFF2-40B4-BE49-F238E27FC236}">
                <a16:creationId xmlns:a16="http://schemas.microsoft.com/office/drawing/2014/main" id="{91F247B0-E5CB-0E1C-228B-774F58E416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613122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2074</TotalTime>
  <Words>2889</Words>
  <Application>Microsoft Office PowerPoint</Application>
  <PresentationFormat>Widescreen</PresentationFormat>
  <Paragraphs>348</Paragraphs>
  <Slides>22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Aptos</vt:lpstr>
      <vt:lpstr>Aptos Display</vt:lpstr>
      <vt:lpstr>Arial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bzktranthao@gmail.com</dc:creator>
  <cp:lastModifiedBy>bzktranthao@gmail.com</cp:lastModifiedBy>
  <cp:revision>53</cp:revision>
  <dcterms:created xsi:type="dcterms:W3CDTF">2026-01-22T02:04:21Z</dcterms:created>
  <dcterms:modified xsi:type="dcterms:W3CDTF">2026-05-03T03:41:43Z</dcterms:modified>
</cp:coreProperties>
</file>
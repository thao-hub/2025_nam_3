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Calistoga" charset="1" panose="00000500000000000000"/>
      <p:regular r:id="rId28"/>
    </p:embeddedFont>
    <p:embeddedFont>
      <p:font typeface="Public Sans Bold Italics" charset="1" panose="00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svg" Type="http://schemas.openxmlformats.org/officeDocument/2006/relationships/image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pn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55.png" Type="http://schemas.openxmlformats.org/officeDocument/2006/relationships/image"/><Relationship Id="rId13" Target="../media/image56.svg" Type="http://schemas.openxmlformats.org/officeDocument/2006/relationships/image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7.png" Type="http://schemas.openxmlformats.org/officeDocument/2006/relationships/image"/><Relationship Id="rId9" Target="https://medium.com/@hadhim19/virtual-hosting-5e2496ee2357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https://www.cloudflare.com/th-th/learning/cdn/cdn-ssl-tls-security/" TargetMode="External" Type="http://schemas.openxmlformats.org/officeDocument/2006/relationships/hyperlink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55.png" Type="http://schemas.openxmlformats.org/officeDocument/2006/relationships/image"/><Relationship Id="rId8" Target="../media/image56.svg" Type="http://schemas.openxmlformats.org/officeDocument/2006/relationships/image"/><Relationship Id="rId9" Target="https://learn.microsoft.com/en-us/iis/extensions/url-rewrite-module/iis-url-rewriting-and-aspnet-routing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https://queue-fair.com/load-balancer-for-website-traffic" TargetMode="External" Type="http://schemas.openxmlformats.org/officeDocument/2006/relationships/hyperlink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https://commons.wikimedia.org/wiki/File:LAMP_software_bundle.svg" TargetMode="External" Type="http://schemas.openxmlformats.org/officeDocument/2006/relationships/hyperlink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https://commons.wikimedia.org/wiki/File:Virtual_Hosting.png" TargetMode="External" Type="http://schemas.openxmlformats.org/officeDocument/2006/relationships/hyperlink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60.png" Type="http://schemas.openxmlformats.org/officeDocument/2006/relationships/image"/><Relationship Id="rId5" Target="../media/image61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6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66.png" Type="http://schemas.openxmlformats.org/officeDocument/2006/relationships/image"/><Relationship Id="rId5" Target="../media/image67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69.png" Type="http://schemas.openxmlformats.org/officeDocument/2006/relationships/image"/><Relationship Id="rId5" Target="../media/image70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94213" y="-853908"/>
            <a:ext cx="6609404" cy="3521010"/>
          </a:xfrm>
          <a:custGeom>
            <a:avLst/>
            <a:gdLst/>
            <a:ahLst/>
            <a:cxnLst/>
            <a:rect r="r" b="b" t="t" l="l"/>
            <a:pathLst>
              <a:path h="3521010" w="6609404">
                <a:moveTo>
                  <a:pt x="0" y="0"/>
                </a:moveTo>
                <a:lnTo>
                  <a:pt x="6609405" y="0"/>
                </a:lnTo>
                <a:lnTo>
                  <a:pt x="6609405" y="3521010"/>
                </a:lnTo>
                <a:lnTo>
                  <a:pt x="0" y="3521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48099" y="7995854"/>
            <a:ext cx="3411201" cy="3256147"/>
          </a:xfrm>
          <a:custGeom>
            <a:avLst/>
            <a:gdLst/>
            <a:ahLst/>
            <a:cxnLst/>
            <a:rect r="r" b="b" t="t" l="l"/>
            <a:pathLst>
              <a:path h="3256147" w="3411201">
                <a:moveTo>
                  <a:pt x="0" y="0"/>
                </a:moveTo>
                <a:lnTo>
                  <a:pt x="3411201" y="0"/>
                </a:lnTo>
                <a:lnTo>
                  <a:pt x="3411201" y="3256147"/>
                </a:lnTo>
                <a:lnTo>
                  <a:pt x="0" y="32561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01261" y="9258300"/>
            <a:ext cx="3293675" cy="3330002"/>
          </a:xfrm>
          <a:custGeom>
            <a:avLst/>
            <a:gdLst/>
            <a:ahLst/>
            <a:cxnLst/>
            <a:rect r="r" b="b" t="t" l="l"/>
            <a:pathLst>
              <a:path h="3330002" w="3293675">
                <a:moveTo>
                  <a:pt x="0" y="0"/>
                </a:moveTo>
                <a:lnTo>
                  <a:pt x="3293675" y="0"/>
                </a:lnTo>
                <a:lnTo>
                  <a:pt x="3293675" y="3330002"/>
                </a:lnTo>
                <a:lnTo>
                  <a:pt x="0" y="3330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95184" y="1190244"/>
            <a:ext cx="3781595" cy="4176460"/>
          </a:xfrm>
          <a:custGeom>
            <a:avLst/>
            <a:gdLst/>
            <a:ahLst/>
            <a:cxnLst/>
            <a:rect r="r" b="b" t="t" l="l"/>
            <a:pathLst>
              <a:path h="4176460" w="3781595">
                <a:moveTo>
                  <a:pt x="0" y="0"/>
                </a:moveTo>
                <a:lnTo>
                  <a:pt x="3781595" y="0"/>
                </a:lnTo>
                <a:lnTo>
                  <a:pt x="3781595" y="4176460"/>
                </a:lnTo>
                <a:lnTo>
                  <a:pt x="0" y="41764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51321" y="2205517"/>
            <a:ext cx="2609079" cy="2528435"/>
          </a:xfrm>
          <a:custGeom>
            <a:avLst/>
            <a:gdLst/>
            <a:ahLst/>
            <a:cxnLst/>
            <a:rect r="r" b="b" t="t" l="l"/>
            <a:pathLst>
              <a:path h="2528435" w="2609079">
                <a:moveTo>
                  <a:pt x="0" y="0"/>
                </a:moveTo>
                <a:lnTo>
                  <a:pt x="2609078" y="0"/>
                </a:lnTo>
                <a:lnTo>
                  <a:pt x="2609078" y="2528435"/>
                </a:lnTo>
                <a:lnTo>
                  <a:pt x="0" y="2528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98915" y="-289978"/>
            <a:ext cx="5188680" cy="1575472"/>
          </a:xfrm>
          <a:custGeom>
            <a:avLst/>
            <a:gdLst/>
            <a:ahLst/>
            <a:cxnLst/>
            <a:rect r="r" b="b" t="t" l="l"/>
            <a:pathLst>
              <a:path h="1575472" w="5188680">
                <a:moveTo>
                  <a:pt x="0" y="0"/>
                </a:moveTo>
                <a:lnTo>
                  <a:pt x="5188681" y="0"/>
                </a:lnTo>
                <a:lnTo>
                  <a:pt x="5188681" y="1575472"/>
                </a:lnTo>
                <a:lnTo>
                  <a:pt x="0" y="15754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238171" y="885242"/>
            <a:ext cx="5291976" cy="3848710"/>
          </a:xfrm>
          <a:custGeom>
            <a:avLst/>
            <a:gdLst/>
            <a:ahLst/>
            <a:cxnLst/>
            <a:rect r="r" b="b" t="t" l="l"/>
            <a:pathLst>
              <a:path h="3848710" w="5291976">
                <a:moveTo>
                  <a:pt x="0" y="0"/>
                </a:moveTo>
                <a:lnTo>
                  <a:pt x="5291976" y="0"/>
                </a:lnTo>
                <a:lnTo>
                  <a:pt x="5291976" y="3848710"/>
                </a:lnTo>
                <a:lnTo>
                  <a:pt x="0" y="384871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82509" y="2811096"/>
            <a:ext cx="13232814" cy="6560565"/>
            <a:chOff x="0" y="0"/>
            <a:chExt cx="17643751" cy="874742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17643751" cy="5343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20"/>
                </a:lnSpc>
              </a:pPr>
              <a:r>
                <a:rPr lang="en-US" sz="6600" spc="39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XÂY DỰNG VÀ TRIỂN KHAI WEBSITE QUẢN LÝ CỬA HÀNG TIỆN LỢI SỬ DỤNG APACHE WEB SERVER TRÊN UBUNTU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5801443"/>
              <a:ext cx="13660923" cy="2945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Môn: Phát triển phần mềm mã nguồn mở </a:t>
              </a:r>
            </a:p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Giảng viên hướng dẫn: ThS. Trần Văn Định </a:t>
              </a:r>
            </a:p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Nhóm 6 - 12_ĐH_CNTT4</a:t>
              </a:r>
            </a:p>
            <a:p>
              <a:pPr algn="l">
                <a:lnSpc>
                  <a:spcPts val="448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88867" y="9067067"/>
            <a:ext cx="6821879" cy="2071370"/>
          </a:xfrm>
          <a:custGeom>
            <a:avLst/>
            <a:gdLst/>
            <a:ahLst/>
            <a:cxnLst/>
            <a:rect r="r" b="b" t="t" l="l"/>
            <a:pathLst>
              <a:path h="2071370" w="6821879">
                <a:moveTo>
                  <a:pt x="0" y="0"/>
                </a:moveTo>
                <a:lnTo>
                  <a:pt x="6821879" y="0"/>
                </a:lnTo>
                <a:lnTo>
                  <a:pt x="6821879" y="2071371"/>
                </a:lnTo>
                <a:lnTo>
                  <a:pt x="0" y="20713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77700" y="9463337"/>
            <a:ext cx="6821879" cy="2071370"/>
          </a:xfrm>
          <a:custGeom>
            <a:avLst/>
            <a:gdLst/>
            <a:ahLst/>
            <a:cxnLst/>
            <a:rect r="r" b="b" t="t" l="l"/>
            <a:pathLst>
              <a:path h="2071370" w="6821879">
                <a:moveTo>
                  <a:pt x="0" y="0"/>
                </a:moveTo>
                <a:lnTo>
                  <a:pt x="6821879" y="0"/>
                </a:lnTo>
                <a:lnTo>
                  <a:pt x="6821879" y="2071370"/>
                </a:lnTo>
                <a:lnTo>
                  <a:pt x="0" y="20713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58836" y="76645"/>
            <a:ext cx="2609079" cy="2528435"/>
          </a:xfrm>
          <a:custGeom>
            <a:avLst/>
            <a:gdLst/>
            <a:ahLst/>
            <a:cxnLst/>
            <a:rect r="r" b="b" t="t" l="l"/>
            <a:pathLst>
              <a:path h="2528435" w="2609079">
                <a:moveTo>
                  <a:pt x="0" y="0"/>
                </a:moveTo>
                <a:lnTo>
                  <a:pt x="2609079" y="0"/>
                </a:lnTo>
                <a:lnTo>
                  <a:pt x="2609079" y="2528435"/>
                </a:lnTo>
                <a:lnTo>
                  <a:pt x="0" y="25284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75127" y="1011106"/>
            <a:ext cx="4383427" cy="3187947"/>
          </a:xfrm>
          <a:custGeom>
            <a:avLst/>
            <a:gdLst/>
            <a:ahLst/>
            <a:cxnLst/>
            <a:rect r="r" b="b" t="t" l="l"/>
            <a:pathLst>
              <a:path h="3187947" w="4383427">
                <a:moveTo>
                  <a:pt x="0" y="0"/>
                </a:moveTo>
                <a:lnTo>
                  <a:pt x="4383427" y="0"/>
                </a:lnTo>
                <a:lnTo>
                  <a:pt x="4383427" y="3187947"/>
                </a:lnTo>
                <a:lnTo>
                  <a:pt x="0" y="31879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65833" y="2605080"/>
            <a:ext cx="8092012" cy="3085754"/>
          </a:xfrm>
          <a:custGeom>
            <a:avLst/>
            <a:gdLst/>
            <a:ahLst/>
            <a:cxnLst/>
            <a:rect r="r" b="b" t="t" l="l"/>
            <a:pathLst>
              <a:path h="3085754" w="8092012">
                <a:moveTo>
                  <a:pt x="0" y="0"/>
                </a:moveTo>
                <a:lnTo>
                  <a:pt x="8092012" y="0"/>
                </a:lnTo>
                <a:lnTo>
                  <a:pt x="8092012" y="3085753"/>
                </a:lnTo>
                <a:lnTo>
                  <a:pt x="0" y="30857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1086536" y="2643180"/>
            <a:ext cx="12093494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  <a:spcBef>
                <a:spcPct val="0"/>
              </a:spcBef>
            </a:pPr>
            <a:r>
              <a:rPr lang="en-US" sz="50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1.1. Apache</a:t>
            </a:r>
            <a:r>
              <a:rPr lang="en-US" sz="5000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Web Server là gì?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6421" y="3684990"/>
            <a:ext cx="8367579" cy="4631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1"/>
              </a:lnSpc>
            </a:pPr>
            <a:r>
              <a:rPr lang="en-US" sz="3272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Apache Web Server là: </a:t>
            </a:r>
          </a:p>
          <a:p>
            <a:pPr algn="just" marL="706466" indent="-353233" lvl="1">
              <a:lnSpc>
                <a:spcPts val="4581"/>
              </a:lnSpc>
              <a:buFont typeface="Arial"/>
              <a:buChar char="•"/>
            </a:pPr>
            <a:r>
              <a:rPr lang="en-US" sz="3272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Phần mềm máy chủ web mã nguồn mở.</a:t>
            </a:r>
          </a:p>
          <a:p>
            <a:pPr algn="just" marL="706466" indent="-353233" lvl="1">
              <a:lnSpc>
                <a:spcPts val="4581"/>
              </a:lnSpc>
              <a:spcBef>
                <a:spcPct val="0"/>
              </a:spcBef>
              <a:buFont typeface="Arial"/>
              <a:buChar char="•"/>
            </a:pPr>
            <a:r>
              <a:rPr lang="en-US" sz="3272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Dù</a:t>
            </a:r>
            <a:r>
              <a:rPr lang="en-US" sz="3272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ng để cung cấp nội dung website cho người dùng</a:t>
            </a:r>
          </a:p>
          <a:p>
            <a:pPr algn="just" marL="0" indent="0" lvl="0">
              <a:lnSpc>
                <a:spcPts val="4581"/>
              </a:lnSpc>
              <a:spcBef>
                <a:spcPct val="0"/>
              </a:spcBef>
            </a:pPr>
            <a:r>
              <a:rPr lang="en-US" sz="3272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3272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Đặc điểm:</a:t>
            </a:r>
          </a:p>
          <a:p>
            <a:pPr algn="just" marL="706466" indent="-353233" lvl="1">
              <a:lnSpc>
                <a:spcPts val="4581"/>
              </a:lnSpc>
              <a:spcBef>
                <a:spcPct val="0"/>
              </a:spcBef>
              <a:buFont typeface="Arial"/>
              <a:buChar char="•"/>
            </a:pPr>
            <a:r>
              <a:rPr lang="en-US" sz="3272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Hỗ trợ HTTP / HTTPS.</a:t>
            </a:r>
          </a:p>
          <a:p>
            <a:pPr algn="just" marL="706466" indent="-353233" lvl="1">
              <a:lnSpc>
                <a:spcPts val="4581"/>
              </a:lnSpc>
              <a:spcBef>
                <a:spcPct val="0"/>
              </a:spcBef>
              <a:buFont typeface="Arial"/>
              <a:buChar char="•"/>
            </a:pPr>
            <a:r>
              <a:rPr lang="en-US" sz="3272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Chạy trên nhiều hệ điều hành.</a:t>
            </a:r>
          </a:p>
          <a:p>
            <a:pPr algn="just" marL="706466" indent="-353233" lvl="1">
              <a:lnSpc>
                <a:spcPts val="4581"/>
              </a:lnSpc>
              <a:spcBef>
                <a:spcPct val="0"/>
              </a:spcBef>
              <a:buFont typeface="Arial"/>
              <a:buChar char="•"/>
            </a:pPr>
            <a:r>
              <a:rPr lang="en-US" sz="3272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Kiến trúc module linh hoạt.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73489" y="5898381"/>
            <a:ext cx="9014511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Logo chính thức của dự án Apache HTTP Server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Nguồn: Apache Software Foundation (Wikimedia Commons).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0243" y="703138"/>
            <a:ext cx="14574564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Chương 1: Giới thiệu tổng quan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70049" y="3226303"/>
            <a:ext cx="5188680" cy="1575472"/>
          </a:xfrm>
          <a:custGeom>
            <a:avLst/>
            <a:gdLst/>
            <a:ahLst/>
            <a:cxnLst/>
            <a:rect r="r" b="b" t="t" l="l"/>
            <a:pathLst>
              <a:path h="1575472" w="5188680">
                <a:moveTo>
                  <a:pt x="0" y="0"/>
                </a:moveTo>
                <a:lnTo>
                  <a:pt x="5188680" y="0"/>
                </a:lnTo>
                <a:lnTo>
                  <a:pt x="5188680" y="1575472"/>
                </a:lnTo>
                <a:lnTo>
                  <a:pt x="0" y="1575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634381">
            <a:off x="-3085300" y="8526495"/>
            <a:ext cx="6609404" cy="3521010"/>
          </a:xfrm>
          <a:custGeom>
            <a:avLst/>
            <a:gdLst/>
            <a:ahLst/>
            <a:cxnLst/>
            <a:rect r="r" b="b" t="t" l="l"/>
            <a:pathLst>
              <a:path h="3521010" w="6609404">
                <a:moveTo>
                  <a:pt x="0" y="0"/>
                </a:moveTo>
                <a:lnTo>
                  <a:pt x="6609404" y="0"/>
                </a:lnTo>
                <a:lnTo>
                  <a:pt x="6609404" y="3521010"/>
                </a:lnTo>
                <a:lnTo>
                  <a:pt x="0" y="3521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97636">
            <a:off x="602189" y="9143750"/>
            <a:ext cx="5188680" cy="1575472"/>
          </a:xfrm>
          <a:custGeom>
            <a:avLst/>
            <a:gdLst/>
            <a:ahLst/>
            <a:cxnLst/>
            <a:rect r="r" b="b" t="t" l="l"/>
            <a:pathLst>
              <a:path h="1575472" w="5188680">
                <a:moveTo>
                  <a:pt x="0" y="0"/>
                </a:moveTo>
                <a:lnTo>
                  <a:pt x="5188681" y="0"/>
                </a:lnTo>
                <a:lnTo>
                  <a:pt x="5188681" y="1575472"/>
                </a:lnTo>
                <a:lnTo>
                  <a:pt x="0" y="15754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89178" y="1052448"/>
            <a:ext cx="2470122" cy="2357844"/>
          </a:xfrm>
          <a:custGeom>
            <a:avLst/>
            <a:gdLst/>
            <a:ahLst/>
            <a:cxnLst/>
            <a:rect r="r" b="b" t="t" l="l"/>
            <a:pathLst>
              <a:path h="2357844" w="2470122">
                <a:moveTo>
                  <a:pt x="0" y="0"/>
                </a:moveTo>
                <a:lnTo>
                  <a:pt x="2470122" y="0"/>
                </a:lnTo>
                <a:lnTo>
                  <a:pt x="2470122" y="2357844"/>
                </a:lnTo>
                <a:lnTo>
                  <a:pt x="0" y="23578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7706" y="7843255"/>
            <a:ext cx="3781595" cy="4176460"/>
          </a:xfrm>
          <a:custGeom>
            <a:avLst/>
            <a:gdLst/>
            <a:ahLst/>
            <a:cxnLst/>
            <a:rect r="r" b="b" t="t" l="l"/>
            <a:pathLst>
              <a:path h="4176460" w="3781595">
                <a:moveTo>
                  <a:pt x="0" y="0"/>
                </a:moveTo>
                <a:lnTo>
                  <a:pt x="3781595" y="0"/>
                </a:lnTo>
                <a:lnTo>
                  <a:pt x="3781595" y="4176461"/>
                </a:lnTo>
                <a:lnTo>
                  <a:pt x="0" y="4176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35124" y="7280290"/>
            <a:ext cx="2229451" cy="2254041"/>
          </a:xfrm>
          <a:custGeom>
            <a:avLst/>
            <a:gdLst/>
            <a:ahLst/>
            <a:cxnLst/>
            <a:rect r="r" b="b" t="t" l="l"/>
            <a:pathLst>
              <a:path h="2254041" w="2229451">
                <a:moveTo>
                  <a:pt x="0" y="0"/>
                </a:moveTo>
                <a:lnTo>
                  <a:pt x="2229451" y="0"/>
                </a:lnTo>
                <a:lnTo>
                  <a:pt x="2229451" y="2254041"/>
                </a:lnTo>
                <a:lnTo>
                  <a:pt x="0" y="22540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21703" y="-1289640"/>
            <a:ext cx="6609404" cy="3521010"/>
          </a:xfrm>
          <a:custGeom>
            <a:avLst/>
            <a:gdLst/>
            <a:ahLst/>
            <a:cxnLst/>
            <a:rect r="r" b="b" t="t" l="l"/>
            <a:pathLst>
              <a:path h="3521010" w="6609404">
                <a:moveTo>
                  <a:pt x="0" y="0"/>
                </a:moveTo>
                <a:lnTo>
                  <a:pt x="6609404" y="0"/>
                </a:lnTo>
                <a:lnTo>
                  <a:pt x="6609404" y="3521010"/>
                </a:lnTo>
                <a:lnTo>
                  <a:pt x="0" y="352101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724275" y="1666632"/>
            <a:ext cx="14229618" cy="7074050"/>
            <a:chOff x="0" y="0"/>
            <a:chExt cx="18972824" cy="94320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66675"/>
              <a:ext cx="17119267" cy="1554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  <a:spcBef>
                  <a:spcPct val="0"/>
                </a:spcBef>
              </a:pPr>
              <a:r>
                <a:rPr lang="en-US" sz="8000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1.2. Va</a:t>
              </a:r>
              <a:r>
                <a:rPr lang="en-US" sz="8000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i trò của Web Server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275826" y="2171346"/>
              <a:ext cx="18696998" cy="72607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5402"/>
                </a:lnSpc>
                <a:spcBef>
                  <a:spcPct val="0"/>
                </a:spcBef>
              </a:pPr>
              <a:r>
                <a:rPr lang="en-US" sz="3858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- Web Server </a:t>
              </a:r>
              <a:r>
                <a:rPr lang="en-US" sz="3858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có nhiệm vụ: </a:t>
              </a:r>
            </a:p>
            <a:p>
              <a:pPr algn="just" marL="833077" indent="-416538" lvl="1">
                <a:lnSpc>
                  <a:spcPts val="540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858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Nhận request từ trình duyệt.</a:t>
              </a:r>
            </a:p>
            <a:p>
              <a:pPr algn="just" marL="833077" indent="-416538" lvl="1">
                <a:lnSpc>
                  <a:spcPts val="540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858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Xử lý dữ liệu. </a:t>
              </a:r>
            </a:p>
            <a:p>
              <a:pPr algn="just" marL="833077" indent="-416538" lvl="1">
                <a:lnSpc>
                  <a:spcPts val="540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858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Trả về web page cho người dùng.</a:t>
              </a:r>
            </a:p>
            <a:p>
              <a:pPr algn="just" marL="0" indent="0" lvl="0">
                <a:lnSpc>
                  <a:spcPts val="5402"/>
                </a:lnSpc>
                <a:spcBef>
                  <a:spcPct val="0"/>
                </a:spcBef>
              </a:pPr>
              <a:r>
                <a:rPr lang="en-US" sz="3858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- </a:t>
              </a:r>
              <a:r>
                <a:rPr lang="en-US" sz="3858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Ngoài ra: </a:t>
              </a:r>
            </a:p>
            <a:p>
              <a:pPr algn="just" marL="833077" indent="-416538" lvl="1">
                <a:lnSpc>
                  <a:spcPts val="540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858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Quản lý nhiều kết nối cùng lúc.</a:t>
              </a:r>
            </a:p>
            <a:p>
              <a:pPr algn="just" marL="833077" indent="-416538" lvl="1">
                <a:lnSpc>
                  <a:spcPts val="540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858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T</a:t>
              </a:r>
              <a:r>
                <a:rPr lang="en-US" sz="3858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ăng bảo mật hệ thống.</a:t>
              </a:r>
            </a:p>
            <a:p>
              <a:pPr algn="just" marL="833077" indent="-416538" lvl="1">
                <a:lnSpc>
                  <a:spcPts val="540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858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Kết nối ứng dụng với cơ sở dữ liệu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22280" y="-260322"/>
            <a:ext cx="3411201" cy="3256147"/>
          </a:xfrm>
          <a:custGeom>
            <a:avLst/>
            <a:gdLst/>
            <a:ahLst/>
            <a:cxnLst/>
            <a:rect r="r" b="b" t="t" l="l"/>
            <a:pathLst>
              <a:path h="3256147" w="3411201">
                <a:moveTo>
                  <a:pt x="0" y="0"/>
                </a:moveTo>
                <a:lnTo>
                  <a:pt x="3411201" y="0"/>
                </a:lnTo>
                <a:lnTo>
                  <a:pt x="3411201" y="3256147"/>
                </a:lnTo>
                <a:lnTo>
                  <a:pt x="0" y="3256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03314" y="8334491"/>
            <a:ext cx="2953623" cy="2986200"/>
          </a:xfrm>
          <a:custGeom>
            <a:avLst/>
            <a:gdLst/>
            <a:ahLst/>
            <a:cxnLst/>
            <a:rect r="r" b="b" t="t" l="l"/>
            <a:pathLst>
              <a:path h="2986200" w="2953623">
                <a:moveTo>
                  <a:pt x="0" y="0"/>
                </a:moveTo>
                <a:lnTo>
                  <a:pt x="2953623" y="0"/>
                </a:lnTo>
                <a:lnTo>
                  <a:pt x="2953623" y="2986200"/>
                </a:lnTo>
                <a:lnTo>
                  <a:pt x="0" y="2986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79206" y="8334491"/>
            <a:ext cx="2609079" cy="2528435"/>
          </a:xfrm>
          <a:custGeom>
            <a:avLst/>
            <a:gdLst/>
            <a:ahLst/>
            <a:cxnLst/>
            <a:rect r="r" b="b" t="t" l="l"/>
            <a:pathLst>
              <a:path h="2528435" w="2609079">
                <a:moveTo>
                  <a:pt x="0" y="0"/>
                </a:moveTo>
                <a:lnTo>
                  <a:pt x="2609079" y="0"/>
                </a:lnTo>
                <a:lnTo>
                  <a:pt x="2609079" y="2528435"/>
                </a:lnTo>
                <a:lnTo>
                  <a:pt x="0" y="25284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51501" y="905716"/>
            <a:ext cx="1892499" cy="2090109"/>
          </a:xfrm>
          <a:custGeom>
            <a:avLst/>
            <a:gdLst/>
            <a:ahLst/>
            <a:cxnLst/>
            <a:rect r="r" b="b" t="t" l="l"/>
            <a:pathLst>
              <a:path h="2090109" w="1892499">
                <a:moveTo>
                  <a:pt x="0" y="0"/>
                </a:moveTo>
                <a:lnTo>
                  <a:pt x="1892499" y="0"/>
                </a:lnTo>
                <a:lnTo>
                  <a:pt x="1892499" y="2090109"/>
                </a:lnTo>
                <a:lnTo>
                  <a:pt x="0" y="20901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28202" y="7890557"/>
            <a:ext cx="5188680" cy="1575472"/>
          </a:xfrm>
          <a:custGeom>
            <a:avLst/>
            <a:gdLst/>
            <a:ahLst/>
            <a:cxnLst/>
            <a:rect r="r" b="b" t="t" l="l"/>
            <a:pathLst>
              <a:path h="1575472" w="5188680">
                <a:moveTo>
                  <a:pt x="0" y="0"/>
                </a:moveTo>
                <a:lnTo>
                  <a:pt x="5188681" y="0"/>
                </a:lnTo>
                <a:lnTo>
                  <a:pt x="5188681" y="1575472"/>
                </a:lnTo>
                <a:lnTo>
                  <a:pt x="0" y="15754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88921" y="3448542"/>
            <a:ext cx="14145777" cy="331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04"/>
              </a:lnSpc>
              <a:spcBef>
                <a:spcPct val="0"/>
              </a:spcBef>
            </a:pPr>
            <a:r>
              <a:rPr lang="en-US" sz="3788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Xuất</a:t>
            </a:r>
            <a:r>
              <a:rPr lang="en-US" sz="3788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hiện từ những năm 1990.</a:t>
            </a:r>
          </a:p>
          <a:p>
            <a:pPr algn="just">
              <a:lnSpc>
                <a:spcPts val="5304"/>
              </a:lnSpc>
              <a:spcBef>
                <a:spcPct val="0"/>
              </a:spcBef>
            </a:pPr>
            <a:r>
              <a:rPr lang="en-US" sz="3788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3788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Phát triển từ phần mềm NCSA HTTPd.</a:t>
            </a:r>
          </a:p>
          <a:p>
            <a:pPr algn="just">
              <a:lnSpc>
                <a:spcPts val="5304"/>
              </a:lnSpc>
              <a:spcBef>
                <a:spcPct val="0"/>
              </a:spcBef>
            </a:pPr>
            <a:r>
              <a:rPr lang="en-US" sz="3788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3788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Tên Apache xuất phát từ “A Patchy Server”</a:t>
            </a:r>
          </a:p>
          <a:p>
            <a:pPr algn="just">
              <a:lnSpc>
                <a:spcPts val="5304"/>
              </a:lnSpc>
              <a:spcBef>
                <a:spcPct val="0"/>
              </a:spcBef>
            </a:pPr>
            <a:r>
              <a:rPr lang="en-US" sz="3788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3788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Ra mắt phiên bản đầu tiên 1995.</a:t>
            </a:r>
          </a:p>
          <a:p>
            <a:pPr algn="just">
              <a:lnSpc>
                <a:spcPts val="5304"/>
              </a:lnSpc>
              <a:spcBef>
                <a:spcPct val="0"/>
              </a:spcBef>
            </a:pPr>
            <a:r>
              <a:rPr lang="en-US" sz="3788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3788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Hiện được quản lý bởi Apache Software Foundation.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8128" y="1363223"/>
            <a:ext cx="10550372" cy="847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38"/>
              </a:lnSpc>
              <a:spcBef>
                <a:spcPct val="0"/>
              </a:spcBef>
            </a:pPr>
            <a:r>
              <a:rPr lang="en-US" sz="5944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1.3. Lịch</a:t>
            </a:r>
            <a:r>
              <a:rPr lang="en-US" sz="5944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sử phát triển Apache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048876" y="2207622"/>
            <a:ext cx="2210424" cy="2142101"/>
          </a:xfrm>
          <a:custGeom>
            <a:avLst/>
            <a:gdLst/>
            <a:ahLst/>
            <a:cxnLst/>
            <a:rect r="r" b="b" t="t" l="l"/>
            <a:pathLst>
              <a:path h="2142101" w="2210424">
                <a:moveTo>
                  <a:pt x="0" y="0"/>
                </a:moveTo>
                <a:lnTo>
                  <a:pt x="2210424" y="0"/>
                </a:lnTo>
                <a:lnTo>
                  <a:pt x="2210424" y="2142101"/>
                </a:lnTo>
                <a:lnTo>
                  <a:pt x="0" y="21421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17878" y="240964"/>
            <a:ext cx="2470122" cy="2357844"/>
          </a:xfrm>
          <a:custGeom>
            <a:avLst/>
            <a:gdLst/>
            <a:ahLst/>
            <a:cxnLst/>
            <a:rect r="r" b="b" t="t" l="l"/>
            <a:pathLst>
              <a:path h="2357844" w="2470122">
                <a:moveTo>
                  <a:pt x="0" y="0"/>
                </a:moveTo>
                <a:lnTo>
                  <a:pt x="2470122" y="0"/>
                </a:lnTo>
                <a:lnTo>
                  <a:pt x="2470122" y="2357844"/>
                </a:lnTo>
                <a:lnTo>
                  <a:pt x="0" y="2357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15915" y="1028700"/>
            <a:ext cx="5291976" cy="3848710"/>
          </a:xfrm>
          <a:custGeom>
            <a:avLst/>
            <a:gdLst/>
            <a:ahLst/>
            <a:cxnLst/>
            <a:rect r="r" b="b" t="t" l="l"/>
            <a:pathLst>
              <a:path h="3848710" w="5291976">
                <a:moveTo>
                  <a:pt x="0" y="0"/>
                </a:moveTo>
                <a:lnTo>
                  <a:pt x="5291975" y="0"/>
                </a:lnTo>
                <a:lnTo>
                  <a:pt x="5291975" y="3848710"/>
                </a:lnTo>
                <a:lnTo>
                  <a:pt x="0" y="3848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640158">
            <a:off x="14268186" y="8838565"/>
            <a:ext cx="6609404" cy="3521010"/>
          </a:xfrm>
          <a:custGeom>
            <a:avLst/>
            <a:gdLst/>
            <a:ahLst/>
            <a:cxnLst/>
            <a:rect r="r" b="b" t="t" l="l"/>
            <a:pathLst>
              <a:path h="3521010" w="6609404">
                <a:moveTo>
                  <a:pt x="0" y="0"/>
                </a:moveTo>
                <a:lnTo>
                  <a:pt x="6609404" y="0"/>
                </a:lnTo>
                <a:lnTo>
                  <a:pt x="6609404" y="3521010"/>
                </a:lnTo>
                <a:lnTo>
                  <a:pt x="0" y="35210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28094" y="9541591"/>
            <a:ext cx="5188680" cy="1575472"/>
          </a:xfrm>
          <a:custGeom>
            <a:avLst/>
            <a:gdLst/>
            <a:ahLst/>
            <a:cxnLst/>
            <a:rect r="r" b="b" t="t" l="l"/>
            <a:pathLst>
              <a:path h="1575472" w="5188680">
                <a:moveTo>
                  <a:pt x="0" y="0"/>
                </a:moveTo>
                <a:lnTo>
                  <a:pt x="5188681" y="0"/>
                </a:lnTo>
                <a:lnTo>
                  <a:pt x="5188681" y="1575473"/>
                </a:lnTo>
                <a:lnTo>
                  <a:pt x="0" y="15754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96567" y="2126035"/>
            <a:ext cx="9388257" cy="5632954"/>
          </a:xfrm>
          <a:custGeom>
            <a:avLst/>
            <a:gdLst/>
            <a:ahLst/>
            <a:cxnLst/>
            <a:rect r="r" b="b" t="t" l="l"/>
            <a:pathLst>
              <a:path h="5632954" w="9388257">
                <a:moveTo>
                  <a:pt x="0" y="0"/>
                </a:moveTo>
                <a:lnTo>
                  <a:pt x="9388258" y="0"/>
                </a:lnTo>
                <a:lnTo>
                  <a:pt x="9388258" y="5632954"/>
                </a:lnTo>
                <a:lnTo>
                  <a:pt x="0" y="56329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80152" y="2522830"/>
            <a:ext cx="10747942" cy="7469279"/>
            <a:chOff x="0" y="0"/>
            <a:chExt cx="14330589" cy="995903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38100"/>
              <a:ext cx="14330589" cy="973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2.1. Mô</a:t>
              </a:r>
              <a:r>
                <a:rPr lang="en-US" sz="5000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 hình Client – Server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495533"/>
              <a:ext cx="9355904" cy="84635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30"/>
                </a:lnSpc>
                <a:spcBef>
                  <a:spcPct val="0"/>
                </a:spcBef>
              </a:pPr>
              <a:r>
                <a:rPr lang="en-US" sz="3593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Mô</a:t>
              </a:r>
              <a:r>
                <a:rPr lang="en-US" sz="3593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 hình hoạt động:</a:t>
              </a:r>
            </a:p>
            <a:p>
              <a:pPr algn="ctr" marL="0" indent="0" lvl="0">
                <a:lnSpc>
                  <a:spcPts val="5030"/>
                </a:lnSpc>
                <a:spcBef>
                  <a:spcPct val="0"/>
                </a:spcBef>
              </a:pPr>
              <a:r>
                <a:rPr lang="en-US" sz="3593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Client (Trình duyệt) </a:t>
              </a:r>
            </a:p>
            <a:p>
              <a:pPr algn="ctr" marL="0" indent="0" lvl="0">
                <a:lnSpc>
                  <a:spcPts val="5030"/>
                </a:lnSpc>
                <a:spcBef>
                  <a:spcPct val="0"/>
                </a:spcBef>
              </a:pPr>
              <a:r>
                <a:rPr lang="en-US" sz="3593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↓ </a:t>
              </a:r>
            </a:p>
            <a:p>
              <a:pPr algn="ctr" marL="0" indent="0" lvl="0">
                <a:lnSpc>
                  <a:spcPts val="5030"/>
                </a:lnSpc>
                <a:spcBef>
                  <a:spcPct val="0"/>
                </a:spcBef>
              </a:pPr>
              <a:r>
                <a:rPr lang="en-US" sz="3593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Gửi Request </a:t>
              </a:r>
            </a:p>
            <a:p>
              <a:pPr algn="ctr" marL="0" indent="0" lvl="0">
                <a:lnSpc>
                  <a:spcPts val="5030"/>
                </a:lnSpc>
                <a:spcBef>
                  <a:spcPct val="0"/>
                </a:spcBef>
              </a:pPr>
              <a:r>
                <a:rPr lang="en-US" sz="3593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↓ </a:t>
              </a:r>
            </a:p>
            <a:p>
              <a:pPr algn="ctr" marL="0" indent="0" lvl="0">
                <a:lnSpc>
                  <a:spcPts val="5030"/>
                </a:lnSpc>
                <a:spcBef>
                  <a:spcPct val="0"/>
                </a:spcBef>
              </a:pPr>
              <a:r>
                <a:rPr lang="en-US" sz="3593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Server (Apache) </a:t>
              </a:r>
            </a:p>
            <a:p>
              <a:pPr algn="ctr" marL="0" indent="0" lvl="0">
                <a:lnSpc>
                  <a:spcPts val="5030"/>
                </a:lnSpc>
                <a:spcBef>
                  <a:spcPct val="0"/>
                </a:spcBef>
              </a:pPr>
              <a:r>
                <a:rPr lang="en-US" sz="3593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↓ </a:t>
              </a:r>
            </a:p>
            <a:p>
              <a:pPr algn="ctr" marL="0" indent="0" lvl="0">
                <a:lnSpc>
                  <a:spcPts val="5030"/>
                </a:lnSpc>
                <a:spcBef>
                  <a:spcPct val="0"/>
                </a:spcBef>
              </a:pPr>
              <a:r>
                <a:rPr lang="en-US" sz="3593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Xử lý dữ liệu </a:t>
              </a:r>
            </a:p>
            <a:p>
              <a:pPr algn="ctr" marL="0" indent="0" lvl="0">
                <a:lnSpc>
                  <a:spcPts val="5030"/>
                </a:lnSpc>
                <a:spcBef>
                  <a:spcPct val="0"/>
                </a:spcBef>
              </a:pPr>
              <a:r>
                <a:rPr lang="en-US" sz="3593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↓ </a:t>
              </a:r>
            </a:p>
            <a:p>
              <a:pPr algn="ctr" marL="0" indent="0" lvl="0">
                <a:lnSpc>
                  <a:spcPts val="5030"/>
                </a:lnSpc>
                <a:spcBef>
                  <a:spcPct val="0"/>
                </a:spcBef>
              </a:pPr>
              <a:r>
                <a:rPr lang="en-US" sz="3593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Trả Response (Website)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490176" y="7930439"/>
            <a:ext cx="925237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Sơ đồ minh họa kiến trúc mạng theo mô hình Client – Server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Nguồn: Wikimedia Commons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3331"/>
            <a:ext cx="14922951" cy="213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65"/>
              </a:lnSpc>
              <a:spcBef>
                <a:spcPct val="0"/>
              </a:spcBef>
            </a:pPr>
            <a:r>
              <a:rPr lang="en-US" sz="7604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Chương 2: Kiến trúc và nguyên lý hoạt động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000" y="2409287"/>
            <a:ext cx="12169771" cy="615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2"/>
              </a:lnSpc>
            </a:pPr>
            <a:r>
              <a:rPr lang="en-US" sz="3873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HTTP:</a:t>
            </a:r>
          </a:p>
          <a:p>
            <a:pPr algn="l" marL="836228" indent="-418114" lvl="1">
              <a:lnSpc>
                <a:spcPts val="5422"/>
              </a:lnSpc>
              <a:buFont typeface="Arial"/>
              <a:buChar char="•"/>
            </a:pPr>
            <a:r>
              <a:rPr lang="en-US" sz="3873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Giao thức truyền dữ liệu web.</a:t>
            </a:r>
          </a:p>
          <a:p>
            <a:pPr algn="l" marL="836228" indent="-418114" lvl="1">
              <a:lnSpc>
                <a:spcPts val="5422"/>
              </a:lnSpc>
              <a:spcBef>
                <a:spcPct val="0"/>
              </a:spcBef>
              <a:buFont typeface="Arial"/>
              <a:buChar char="•"/>
            </a:pPr>
            <a:r>
              <a:rPr lang="en-US" sz="3873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Sử dụ</a:t>
            </a:r>
            <a:r>
              <a:rPr lang="en-US" sz="3873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ng cổng 80.</a:t>
            </a:r>
          </a:p>
          <a:p>
            <a:pPr algn="l" marL="0" indent="0" lvl="0">
              <a:lnSpc>
                <a:spcPts val="5422"/>
              </a:lnSpc>
              <a:spcBef>
                <a:spcPct val="0"/>
              </a:spcBef>
            </a:pPr>
            <a:r>
              <a:rPr lang="en-US" sz="3873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3873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HTTPS:</a:t>
            </a:r>
          </a:p>
          <a:p>
            <a:pPr algn="l" marL="836228" indent="-418114" lvl="1">
              <a:lnSpc>
                <a:spcPts val="5422"/>
              </a:lnSpc>
              <a:spcBef>
                <a:spcPct val="0"/>
              </a:spcBef>
              <a:buFont typeface="Arial"/>
              <a:buChar char="•"/>
            </a:pPr>
            <a:r>
              <a:rPr lang="en-US" sz="3873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Phiên bản bảo mật của HTTP.</a:t>
            </a:r>
          </a:p>
          <a:p>
            <a:pPr algn="l" marL="836228" indent="-418114" lvl="1">
              <a:lnSpc>
                <a:spcPts val="5422"/>
              </a:lnSpc>
              <a:spcBef>
                <a:spcPct val="0"/>
              </a:spcBef>
              <a:buFont typeface="Arial"/>
              <a:buChar char="•"/>
            </a:pPr>
            <a:r>
              <a:rPr lang="en-US" sz="3873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Sử dụng SSL/TLS mã hóa dữ liệu.</a:t>
            </a:r>
          </a:p>
          <a:p>
            <a:pPr algn="l" marL="0" indent="0" lvl="0">
              <a:lnSpc>
                <a:spcPts val="5422"/>
              </a:lnSpc>
              <a:spcBef>
                <a:spcPct val="0"/>
              </a:spcBef>
            </a:pPr>
            <a:r>
              <a:rPr lang="en-US" sz="3873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3873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Ưu điểm: </a:t>
            </a:r>
          </a:p>
          <a:p>
            <a:pPr algn="l" marL="836228" indent="-418114" lvl="1">
              <a:lnSpc>
                <a:spcPts val="5422"/>
              </a:lnSpc>
              <a:spcBef>
                <a:spcPct val="0"/>
              </a:spcBef>
              <a:buFont typeface="Arial"/>
              <a:buChar char="•"/>
            </a:pPr>
            <a:r>
              <a:rPr lang="en-US" sz="3873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Bảo vệ thông tin người dùng.</a:t>
            </a:r>
          </a:p>
          <a:p>
            <a:pPr algn="l" marL="836228" indent="-418114" lvl="1">
              <a:lnSpc>
                <a:spcPts val="5422"/>
              </a:lnSpc>
              <a:spcBef>
                <a:spcPct val="0"/>
              </a:spcBef>
              <a:buFont typeface="Arial"/>
              <a:buChar char="•"/>
            </a:pPr>
            <a:r>
              <a:rPr lang="en-US" sz="3873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Tăng độ tin cậy website.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768193" y="8572168"/>
            <a:ext cx="2519807" cy="2405270"/>
          </a:xfrm>
          <a:custGeom>
            <a:avLst/>
            <a:gdLst/>
            <a:ahLst/>
            <a:cxnLst/>
            <a:rect r="r" b="b" t="t" l="l"/>
            <a:pathLst>
              <a:path h="2405270" w="2519807">
                <a:moveTo>
                  <a:pt x="0" y="0"/>
                </a:moveTo>
                <a:lnTo>
                  <a:pt x="2519807" y="0"/>
                </a:lnTo>
                <a:lnTo>
                  <a:pt x="2519807" y="2405271"/>
                </a:lnTo>
                <a:lnTo>
                  <a:pt x="0" y="2405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68179" y="-538602"/>
            <a:ext cx="2892857" cy="2924763"/>
          </a:xfrm>
          <a:custGeom>
            <a:avLst/>
            <a:gdLst/>
            <a:ahLst/>
            <a:cxnLst/>
            <a:rect r="r" b="b" t="t" l="l"/>
            <a:pathLst>
              <a:path h="2924763" w="2892857">
                <a:moveTo>
                  <a:pt x="0" y="0"/>
                </a:moveTo>
                <a:lnTo>
                  <a:pt x="2892857" y="0"/>
                </a:lnTo>
                <a:lnTo>
                  <a:pt x="2892857" y="2924763"/>
                </a:lnTo>
                <a:lnTo>
                  <a:pt x="0" y="29247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2354893" y="8572168"/>
            <a:ext cx="5000213" cy="2663750"/>
          </a:xfrm>
          <a:custGeom>
            <a:avLst/>
            <a:gdLst/>
            <a:ahLst/>
            <a:cxnLst/>
            <a:rect r="r" b="b" t="t" l="l"/>
            <a:pathLst>
              <a:path h="2663750" w="5000213">
                <a:moveTo>
                  <a:pt x="0" y="0"/>
                </a:moveTo>
                <a:lnTo>
                  <a:pt x="5000213" y="0"/>
                </a:lnTo>
                <a:lnTo>
                  <a:pt x="5000213" y="2663750"/>
                </a:lnTo>
                <a:lnTo>
                  <a:pt x="0" y="2663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78031" y="923779"/>
            <a:ext cx="5291976" cy="3848710"/>
          </a:xfrm>
          <a:custGeom>
            <a:avLst/>
            <a:gdLst/>
            <a:ahLst/>
            <a:cxnLst/>
            <a:rect r="r" b="b" t="t" l="l"/>
            <a:pathLst>
              <a:path h="3848710" w="5291976">
                <a:moveTo>
                  <a:pt x="0" y="0"/>
                </a:moveTo>
                <a:lnTo>
                  <a:pt x="5291976" y="0"/>
                </a:lnTo>
                <a:lnTo>
                  <a:pt x="5291976" y="3848710"/>
                </a:lnTo>
                <a:lnTo>
                  <a:pt x="0" y="38487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2084822"/>
            <a:ext cx="8167297" cy="3664813"/>
          </a:xfrm>
          <a:custGeom>
            <a:avLst/>
            <a:gdLst/>
            <a:ahLst/>
            <a:cxnLst/>
            <a:rect r="r" b="b" t="t" l="l"/>
            <a:pathLst>
              <a:path h="3664813" w="8167297">
                <a:moveTo>
                  <a:pt x="0" y="0"/>
                </a:moveTo>
                <a:lnTo>
                  <a:pt x="8167297" y="0"/>
                </a:lnTo>
                <a:lnTo>
                  <a:pt x="8167297" y="3664813"/>
                </a:lnTo>
                <a:lnTo>
                  <a:pt x="0" y="36648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6042190"/>
            <a:ext cx="8167297" cy="3861853"/>
          </a:xfrm>
          <a:custGeom>
            <a:avLst/>
            <a:gdLst/>
            <a:ahLst/>
            <a:cxnLst/>
            <a:rect r="r" b="b" t="t" l="l"/>
            <a:pathLst>
              <a:path h="3861853" w="8167297">
                <a:moveTo>
                  <a:pt x="0" y="0"/>
                </a:moveTo>
                <a:lnTo>
                  <a:pt x="8167297" y="0"/>
                </a:lnTo>
                <a:lnTo>
                  <a:pt x="8167297" y="3861853"/>
                </a:lnTo>
                <a:lnTo>
                  <a:pt x="0" y="386185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45320" y="642801"/>
            <a:ext cx="14112069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2.2. Giao</a:t>
            </a:r>
            <a:r>
              <a:rPr lang="en-US" sz="8000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thức HTTP và HTTPS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53335" y="-817839"/>
            <a:ext cx="3781595" cy="4176460"/>
          </a:xfrm>
          <a:custGeom>
            <a:avLst/>
            <a:gdLst/>
            <a:ahLst/>
            <a:cxnLst/>
            <a:rect r="r" b="b" t="t" l="l"/>
            <a:pathLst>
              <a:path h="4176460" w="3781595">
                <a:moveTo>
                  <a:pt x="0" y="0"/>
                </a:moveTo>
                <a:lnTo>
                  <a:pt x="3781595" y="0"/>
                </a:lnTo>
                <a:lnTo>
                  <a:pt x="3781595" y="4176461"/>
                </a:lnTo>
                <a:lnTo>
                  <a:pt x="0" y="41764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64975" y="2397543"/>
            <a:ext cx="3293675" cy="3330002"/>
          </a:xfrm>
          <a:custGeom>
            <a:avLst/>
            <a:gdLst/>
            <a:ahLst/>
            <a:cxnLst/>
            <a:rect r="r" b="b" t="t" l="l"/>
            <a:pathLst>
              <a:path h="3330002" w="3293675">
                <a:moveTo>
                  <a:pt x="0" y="0"/>
                </a:moveTo>
                <a:lnTo>
                  <a:pt x="3293675" y="0"/>
                </a:lnTo>
                <a:lnTo>
                  <a:pt x="3293675" y="3330002"/>
                </a:lnTo>
                <a:lnTo>
                  <a:pt x="0" y="3330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3809" y="1028700"/>
            <a:ext cx="3411201" cy="3256147"/>
          </a:xfrm>
          <a:custGeom>
            <a:avLst/>
            <a:gdLst/>
            <a:ahLst/>
            <a:cxnLst/>
            <a:rect r="r" b="b" t="t" l="l"/>
            <a:pathLst>
              <a:path h="3256147" w="3411201">
                <a:moveTo>
                  <a:pt x="0" y="0"/>
                </a:moveTo>
                <a:lnTo>
                  <a:pt x="3411201" y="0"/>
                </a:lnTo>
                <a:lnTo>
                  <a:pt x="3411201" y="3256147"/>
                </a:lnTo>
                <a:lnTo>
                  <a:pt x="0" y="32561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137948" y="7507243"/>
            <a:ext cx="1585503" cy="1751057"/>
          </a:xfrm>
          <a:custGeom>
            <a:avLst/>
            <a:gdLst/>
            <a:ahLst/>
            <a:cxnLst/>
            <a:rect r="r" b="b" t="t" l="l"/>
            <a:pathLst>
              <a:path h="1751057" w="1585503">
                <a:moveTo>
                  <a:pt x="0" y="0"/>
                </a:moveTo>
                <a:lnTo>
                  <a:pt x="1585503" y="0"/>
                </a:lnTo>
                <a:lnTo>
                  <a:pt x="1585503" y="1751057"/>
                </a:lnTo>
                <a:lnTo>
                  <a:pt x="0" y="17510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32736" y="5928989"/>
            <a:ext cx="2210424" cy="2142101"/>
          </a:xfrm>
          <a:custGeom>
            <a:avLst/>
            <a:gdLst/>
            <a:ahLst/>
            <a:cxnLst/>
            <a:rect r="r" b="b" t="t" l="l"/>
            <a:pathLst>
              <a:path h="2142101" w="2210424">
                <a:moveTo>
                  <a:pt x="0" y="0"/>
                </a:moveTo>
                <a:lnTo>
                  <a:pt x="2210424" y="0"/>
                </a:lnTo>
                <a:lnTo>
                  <a:pt x="2210424" y="2142102"/>
                </a:lnTo>
                <a:lnTo>
                  <a:pt x="0" y="21421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634381">
            <a:off x="-3045018" y="8506171"/>
            <a:ext cx="6609404" cy="3521010"/>
          </a:xfrm>
          <a:custGeom>
            <a:avLst/>
            <a:gdLst/>
            <a:ahLst/>
            <a:cxnLst/>
            <a:rect r="r" b="b" t="t" l="l"/>
            <a:pathLst>
              <a:path h="3521010" w="6609404">
                <a:moveTo>
                  <a:pt x="0" y="0"/>
                </a:moveTo>
                <a:lnTo>
                  <a:pt x="6609404" y="0"/>
                </a:lnTo>
                <a:lnTo>
                  <a:pt x="6609404" y="3521010"/>
                </a:lnTo>
                <a:lnTo>
                  <a:pt x="0" y="35210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44772" y="392573"/>
            <a:ext cx="16372976" cy="8850735"/>
            <a:chOff x="0" y="0"/>
            <a:chExt cx="21830634" cy="118009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6675"/>
              <a:ext cx="21830634" cy="1554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800"/>
                </a:lnSpc>
                <a:spcBef>
                  <a:spcPct val="0"/>
                </a:spcBef>
              </a:pPr>
              <a:r>
                <a:rPr lang="en-US" sz="8000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2.3. Các</a:t>
              </a:r>
              <a:r>
                <a:rPr lang="en-US" sz="8000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 mô hình xử lý của Apache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952855" y="2359316"/>
              <a:ext cx="15918651" cy="9441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5151"/>
                </a:lnSpc>
                <a:spcBef>
                  <a:spcPct val="0"/>
                </a:spcBef>
              </a:pPr>
              <a:r>
                <a:rPr lang="en-US" sz="3679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-</a:t>
              </a:r>
              <a:r>
                <a:rPr lang="en-US" sz="367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Apache sử dụng MPM (Multi Processing Module).</a:t>
              </a:r>
            </a:p>
            <a:p>
              <a:pPr algn="just" marL="0" indent="0" lvl="0">
                <a:lnSpc>
                  <a:spcPts val="5151"/>
                </a:lnSpc>
                <a:spcBef>
                  <a:spcPct val="0"/>
                </a:spcBef>
              </a:pPr>
              <a:r>
                <a:rPr lang="en-US" sz="367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-3 loại chính: </a:t>
              </a:r>
            </a:p>
            <a:p>
              <a:pPr algn="just" marL="794393" indent="-397196" lvl="1">
                <a:lnSpc>
                  <a:spcPts val="515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67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Prefork:</a:t>
              </a:r>
            </a:p>
            <a:p>
              <a:pPr algn="just" marL="0" indent="0" lvl="0">
                <a:lnSpc>
                  <a:spcPts val="5151"/>
                </a:lnSpc>
                <a:spcBef>
                  <a:spcPct val="0"/>
                </a:spcBef>
              </a:pPr>
              <a:r>
                <a:rPr lang="en-US" sz="367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        + </a:t>
              </a:r>
              <a:r>
                <a:rPr lang="en-US" sz="367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Mỗi tiến trình xử lý 1 request.</a:t>
              </a:r>
            </a:p>
            <a:p>
              <a:pPr algn="just" marL="0" indent="0" lvl="0">
                <a:lnSpc>
                  <a:spcPts val="5151"/>
                </a:lnSpc>
                <a:spcBef>
                  <a:spcPct val="0"/>
                </a:spcBef>
              </a:pPr>
              <a:r>
                <a:rPr lang="en-US" sz="367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        + Ổn định nhưng tốn RAM.</a:t>
              </a:r>
            </a:p>
            <a:p>
              <a:pPr algn="just" marL="794393" indent="-397196" lvl="1">
                <a:lnSpc>
                  <a:spcPts val="515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67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Worker:</a:t>
              </a:r>
            </a:p>
            <a:p>
              <a:pPr algn="just" marL="0" indent="0" lvl="0">
                <a:lnSpc>
                  <a:spcPts val="5151"/>
                </a:lnSpc>
                <a:spcBef>
                  <a:spcPct val="0"/>
                </a:spcBef>
              </a:pPr>
              <a:r>
                <a:rPr lang="en-US" sz="367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        + </a:t>
              </a:r>
              <a:r>
                <a:rPr lang="en-US" sz="367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Kết hợp tiến trình và luồng.</a:t>
              </a:r>
            </a:p>
            <a:p>
              <a:pPr algn="just" marL="0" indent="0" lvl="0">
                <a:lnSpc>
                  <a:spcPts val="5151"/>
                </a:lnSpc>
                <a:spcBef>
                  <a:spcPct val="0"/>
                </a:spcBef>
              </a:pPr>
              <a:r>
                <a:rPr lang="en-US" sz="367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        +Tiết kiệm tài nguyên.</a:t>
              </a:r>
            </a:p>
            <a:p>
              <a:pPr algn="just" marL="794393" indent="-397196" lvl="1">
                <a:lnSpc>
                  <a:spcPts val="515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67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Event:</a:t>
              </a:r>
            </a:p>
            <a:p>
              <a:pPr algn="just" marL="0" indent="0" lvl="0">
                <a:lnSpc>
                  <a:spcPts val="5151"/>
                </a:lnSpc>
                <a:spcBef>
                  <a:spcPct val="0"/>
                </a:spcBef>
              </a:pPr>
              <a:r>
                <a:rPr lang="en-US" sz="367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        + </a:t>
              </a:r>
              <a:r>
                <a:rPr lang="en-US" sz="367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Nâng cấp từ Worker.</a:t>
              </a:r>
            </a:p>
            <a:p>
              <a:pPr algn="just">
                <a:lnSpc>
                  <a:spcPts val="5151"/>
                </a:lnSpc>
                <a:spcBef>
                  <a:spcPct val="0"/>
                </a:spcBef>
              </a:pPr>
              <a:r>
                <a:rPr lang="en-US" sz="367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        +Tối ưu kết nối lâu dài.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65640" y="1419886"/>
            <a:ext cx="5188680" cy="1575472"/>
          </a:xfrm>
          <a:custGeom>
            <a:avLst/>
            <a:gdLst/>
            <a:ahLst/>
            <a:cxnLst/>
            <a:rect r="r" b="b" t="t" l="l"/>
            <a:pathLst>
              <a:path h="1575472" w="5188680">
                <a:moveTo>
                  <a:pt x="0" y="0"/>
                </a:moveTo>
                <a:lnTo>
                  <a:pt x="5188680" y="0"/>
                </a:lnTo>
                <a:lnTo>
                  <a:pt x="5188680" y="1575472"/>
                </a:lnTo>
                <a:lnTo>
                  <a:pt x="0" y="1575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155" y="9552814"/>
            <a:ext cx="3275708" cy="3126812"/>
          </a:xfrm>
          <a:custGeom>
            <a:avLst/>
            <a:gdLst/>
            <a:ahLst/>
            <a:cxnLst/>
            <a:rect r="r" b="b" t="t" l="l"/>
            <a:pathLst>
              <a:path h="3126812" w="3275708">
                <a:moveTo>
                  <a:pt x="0" y="0"/>
                </a:moveTo>
                <a:lnTo>
                  <a:pt x="3275708" y="0"/>
                </a:lnTo>
                <a:lnTo>
                  <a:pt x="3275708" y="3126813"/>
                </a:lnTo>
                <a:lnTo>
                  <a:pt x="0" y="3126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02497" y="9258300"/>
            <a:ext cx="1585503" cy="1751057"/>
          </a:xfrm>
          <a:custGeom>
            <a:avLst/>
            <a:gdLst/>
            <a:ahLst/>
            <a:cxnLst/>
            <a:rect r="r" b="b" t="t" l="l"/>
            <a:pathLst>
              <a:path h="1751057" w="1585503">
                <a:moveTo>
                  <a:pt x="0" y="0"/>
                </a:moveTo>
                <a:lnTo>
                  <a:pt x="1585503" y="0"/>
                </a:lnTo>
                <a:lnTo>
                  <a:pt x="1585503" y="1751057"/>
                </a:lnTo>
                <a:lnTo>
                  <a:pt x="0" y="17510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23887" y="2207622"/>
            <a:ext cx="8743570" cy="5825403"/>
          </a:xfrm>
          <a:custGeom>
            <a:avLst/>
            <a:gdLst/>
            <a:ahLst/>
            <a:cxnLst/>
            <a:rect r="r" b="b" t="t" l="l"/>
            <a:pathLst>
              <a:path h="5825403" w="8743570">
                <a:moveTo>
                  <a:pt x="0" y="0"/>
                </a:moveTo>
                <a:lnTo>
                  <a:pt x="8743570" y="0"/>
                </a:lnTo>
                <a:lnTo>
                  <a:pt x="8743570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2962" y="187687"/>
            <a:ext cx="17301851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Chương 3: Các tính năng chính của Apache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9333" y="2665819"/>
            <a:ext cx="6545621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  <a:spcBef>
                <a:spcPct val="0"/>
              </a:spcBef>
            </a:pPr>
            <a:r>
              <a:rPr lang="en-US" sz="50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3.1. Vi</a:t>
            </a:r>
            <a:r>
              <a:rPr lang="en-US" sz="5000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rtual Hosting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2962" y="3567334"/>
            <a:ext cx="9398854" cy="5728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1"/>
              </a:lnSpc>
            </a:pPr>
            <a:r>
              <a:rPr lang="en-US" sz="3593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Virtual Hosting cho phép:</a:t>
            </a:r>
          </a:p>
          <a:p>
            <a:pPr algn="just" marL="775914" indent="-387957" lvl="1">
              <a:lnSpc>
                <a:spcPts val="5031"/>
              </a:lnSpc>
              <a:buFont typeface="Arial"/>
              <a:buChar char="•"/>
            </a:pPr>
            <a:r>
              <a:rPr lang="en-US" sz="3593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Một máy chủ chạy nhiều website.</a:t>
            </a:r>
          </a:p>
          <a:p>
            <a:pPr algn="just">
              <a:lnSpc>
                <a:spcPts val="5031"/>
              </a:lnSpc>
            </a:pPr>
            <a:r>
              <a:rPr lang="en-US" sz="3593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     </a:t>
            </a:r>
            <a:r>
              <a:rPr lang="en-US" sz="3593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Ví dụ:</a:t>
            </a:r>
          </a:p>
          <a:p>
            <a:pPr algn="just">
              <a:lnSpc>
                <a:spcPts val="5031"/>
              </a:lnSpc>
            </a:pPr>
            <a:r>
              <a:rPr lang="en-US" sz="3593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          CuaHangTienLoi.vn:</a:t>
            </a:r>
          </a:p>
          <a:p>
            <a:pPr algn="just">
              <a:lnSpc>
                <a:spcPts val="5031"/>
              </a:lnSpc>
            </a:pPr>
            <a:r>
              <a:rPr lang="en-US" sz="3593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          HoctapOnline.edu.vn</a:t>
            </a:r>
          </a:p>
          <a:p>
            <a:pPr algn="just" marL="775914" indent="-387957" lvl="1">
              <a:lnSpc>
                <a:spcPts val="5031"/>
              </a:lnSpc>
              <a:buFont typeface="Arial"/>
              <a:buChar char="•"/>
            </a:pPr>
            <a:r>
              <a:rPr lang="en-US" sz="3593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Tất cả cùng chạy trên 1 server Apache.</a:t>
            </a:r>
          </a:p>
          <a:p>
            <a:pPr algn="just">
              <a:lnSpc>
                <a:spcPts val="5031"/>
              </a:lnSpc>
            </a:pPr>
            <a:r>
              <a:rPr lang="en-US" sz="3593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3593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Ưu điểm:</a:t>
            </a:r>
          </a:p>
          <a:p>
            <a:pPr algn="just" marL="775914" indent="-387957" lvl="1">
              <a:lnSpc>
                <a:spcPts val="5031"/>
              </a:lnSpc>
              <a:buFont typeface="Arial"/>
              <a:buChar char="•"/>
            </a:pPr>
            <a:r>
              <a:rPr lang="en-US" sz="3593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-Tiết kiệm tài nguyên</a:t>
            </a:r>
          </a:p>
          <a:p>
            <a:pPr algn="just" marL="775914" indent="-387957" lvl="1">
              <a:lnSpc>
                <a:spcPts val="5031"/>
              </a:lnSpc>
              <a:buFont typeface="Arial"/>
              <a:buChar char="•"/>
            </a:pPr>
            <a:r>
              <a:rPr lang="en-US" sz="3593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Dễ quản lý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92086" y="7579000"/>
            <a:ext cx="8282727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Sơ đồ kiến trúc tổng quan của hệ thống Virtual Hosting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Nguồn: </a:t>
            </a:r>
            <a:r>
              <a:rPr lang="en-US" sz="2499" u="sng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  <a:hlinkClick r:id="rId9" tooltip="https://medium.com/@hadhim19/virtual-hosting-5e2496ee2357"/>
              </a:rPr>
              <a:t>Medium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88867" y="9067067"/>
            <a:ext cx="6821879" cy="2071370"/>
          </a:xfrm>
          <a:custGeom>
            <a:avLst/>
            <a:gdLst/>
            <a:ahLst/>
            <a:cxnLst/>
            <a:rect r="r" b="b" t="t" l="l"/>
            <a:pathLst>
              <a:path h="2071370" w="6821879">
                <a:moveTo>
                  <a:pt x="0" y="0"/>
                </a:moveTo>
                <a:lnTo>
                  <a:pt x="6821879" y="0"/>
                </a:lnTo>
                <a:lnTo>
                  <a:pt x="6821879" y="2071371"/>
                </a:lnTo>
                <a:lnTo>
                  <a:pt x="0" y="20713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77700" y="9463337"/>
            <a:ext cx="6821879" cy="2071370"/>
          </a:xfrm>
          <a:custGeom>
            <a:avLst/>
            <a:gdLst/>
            <a:ahLst/>
            <a:cxnLst/>
            <a:rect r="r" b="b" t="t" l="l"/>
            <a:pathLst>
              <a:path h="2071370" w="6821879">
                <a:moveTo>
                  <a:pt x="0" y="0"/>
                </a:moveTo>
                <a:lnTo>
                  <a:pt x="6821879" y="0"/>
                </a:lnTo>
                <a:lnTo>
                  <a:pt x="6821879" y="2071370"/>
                </a:lnTo>
                <a:lnTo>
                  <a:pt x="0" y="20713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58836" y="76645"/>
            <a:ext cx="2609079" cy="2528435"/>
          </a:xfrm>
          <a:custGeom>
            <a:avLst/>
            <a:gdLst/>
            <a:ahLst/>
            <a:cxnLst/>
            <a:rect r="r" b="b" t="t" l="l"/>
            <a:pathLst>
              <a:path h="2528435" w="2609079">
                <a:moveTo>
                  <a:pt x="0" y="0"/>
                </a:moveTo>
                <a:lnTo>
                  <a:pt x="2609079" y="0"/>
                </a:lnTo>
                <a:lnTo>
                  <a:pt x="2609079" y="2528435"/>
                </a:lnTo>
                <a:lnTo>
                  <a:pt x="0" y="25284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75127" y="1011106"/>
            <a:ext cx="4383427" cy="3187947"/>
          </a:xfrm>
          <a:custGeom>
            <a:avLst/>
            <a:gdLst/>
            <a:ahLst/>
            <a:cxnLst/>
            <a:rect r="r" b="b" t="t" l="l"/>
            <a:pathLst>
              <a:path h="3187947" w="4383427">
                <a:moveTo>
                  <a:pt x="0" y="0"/>
                </a:moveTo>
                <a:lnTo>
                  <a:pt x="4383427" y="0"/>
                </a:lnTo>
                <a:lnTo>
                  <a:pt x="4383427" y="3187947"/>
                </a:lnTo>
                <a:lnTo>
                  <a:pt x="0" y="31879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77540" y="2093116"/>
            <a:ext cx="8206260" cy="4687826"/>
          </a:xfrm>
          <a:custGeom>
            <a:avLst/>
            <a:gdLst/>
            <a:ahLst/>
            <a:cxnLst/>
            <a:rect r="r" b="b" t="t" l="l"/>
            <a:pathLst>
              <a:path h="4687826" w="8206260">
                <a:moveTo>
                  <a:pt x="0" y="0"/>
                </a:moveTo>
                <a:lnTo>
                  <a:pt x="8206260" y="0"/>
                </a:lnTo>
                <a:lnTo>
                  <a:pt x="8206260" y="4687827"/>
                </a:lnTo>
                <a:lnTo>
                  <a:pt x="0" y="46878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50243" y="1372391"/>
            <a:ext cx="6545621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  <a:spcBef>
                <a:spcPct val="0"/>
              </a:spcBef>
            </a:pPr>
            <a:r>
              <a:rPr lang="en-US" sz="50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3.2. Bả</a:t>
            </a:r>
            <a:r>
              <a:rPr lang="en-US" sz="5000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o mật SSL/TLS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5703" y="2905029"/>
            <a:ext cx="8359783" cy="580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6"/>
              </a:lnSpc>
            </a:pPr>
            <a:r>
              <a:rPr lang="en-US" sz="3683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Sử dụng module mod_ssl để thiết lập giao thức HTTPS, mã hóa toàn bộ dữ liệu trao đổi giữa server và người dùng.</a:t>
            </a:r>
          </a:p>
          <a:p>
            <a:pPr algn="just">
              <a:lnSpc>
                <a:spcPts val="5156"/>
              </a:lnSpc>
            </a:pPr>
            <a:r>
              <a:rPr lang="en-US" sz="3683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Bảo vệ các thông tin nhạy cảm như mật khẩu, dữ liệu thanh toán khỏi nguy cơ bị đánh cắp.</a:t>
            </a:r>
          </a:p>
          <a:p>
            <a:pPr algn="just">
              <a:lnSpc>
                <a:spcPts val="5156"/>
              </a:lnSpc>
            </a:pPr>
            <a:r>
              <a:rPr lang="en-US" sz="3683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Thực hiện quá trình "bắt tay" (Handshake) để khởi tạo khóa mã hóa an toàn.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10893" y="6983798"/>
            <a:ext cx="8282727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i="tru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Quá trình "bắt tay" (Handshake) thiết lập kết nối TCP và TLS giữa Client và Serv</a:t>
            </a:r>
            <a:r>
              <a:rPr lang="en-US" sz="2499" i="true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e</a:t>
            </a:r>
            <a:r>
              <a:rPr lang="en-US" sz="2499" i="tru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r.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i="true">
                <a:solidFill>
                  <a:srgbClr val="926F4B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Nguồn: </a:t>
            </a:r>
            <a:r>
              <a:rPr lang="en-US" b="true" sz="2499" i="true" u="sng">
                <a:solidFill>
                  <a:srgbClr val="926F4B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  <a:hlinkClick r:id="rId11" tooltip="https://www.cloudflare.com/th-th/learning/cdn/cdn-ssl-tls-security/"/>
              </a:rPr>
              <a:t>CloudFlare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51685" y="563221"/>
            <a:ext cx="6284644" cy="9174663"/>
          </a:xfrm>
          <a:custGeom>
            <a:avLst/>
            <a:gdLst/>
            <a:ahLst/>
            <a:cxnLst/>
            <a:rect r="r" b="b" t="t" l="l"/>
            <a:pathLst>
              <a:path h="9174663" w="6284644">
                <a:moveTo>
                  <a:pt x="0" y="0"/>
                </a:moveTo>
                <a:lnTo>
                  <a:pt x="6284644" y="0"/>
                </a:lnTo>
                <a:lnTo>
                  <a:pt x="6284644" y="9174663"/>
                </a:lnTo>
                <a:lnTo>
                  <a:pt x="0" y="91746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7798" y="2522269"/>
            <a:ext cx="7896042" cy="44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3"/>
              </a:lnSpc>
            </a:pPr>
            <a:r>
              <a:rPr lang="en-US" sz="420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Sử dụng module mod_rewrite để rút gọn các đường dẫn phức tạp.</a:t>
            </a:r>
          </a:p>
          <a:p>
            <a:pPr algn="l">
              <a:lnSpc>
                <a:spcPts val="5893"/>
              </a:lnSpc>
              <a:spcBef>
                <a:spcPct val="0"/>
              </a:spcBef>
            </a:pPr>
            <a:r>
              <a:rPr lang="en-US" sz="420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420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Hỗ trợ tối ưu </a:t>
            </a:r>
            <a:r>
              <a:rPr lang="en-US" sz="420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SEO và che giấu cấu trúc thư mục thật để tăng bảo mật.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554237" y="-1778474"/>
            <a:ext cx="3781595" cy="4176460"/>
          </a:xfrm>
          <a:custGeom>
            <a:avLst/>
            <a:gdLst/>
            <a:ahLst/>
            <a:cxnLst/>
            <a:rect r="r" b="b" t="t" l="l"/>
            <a:pathLst>
              <a:path h="4176460" w="3781595">
                <a:moveTo>
                  <a:pt x="0" y="0"/>
                </a:moveTo>
                <a:lnTo>
                  <a:pt x="3781595" y="0"/>
                </a:lnTo>
                <a:lnTo>
                  <a:pt x="3781595" y="4176460"/>
                </a:lnTo>
                <a:lnTo>
                  <a:pt x="0" y="41764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565876" y="1436907"/>
            <a:ext cx="3293675" cy="3330002"/>
          </a:xfrm>
          <a:custGeom>
            <a:avLst/>
            <a:gdLst/>
            <a:ahLst/>
            <a:cxnLst/>
            <a:rect r="r" b="b" t="t" l="l"/>
            <a:pathLst>
              <a:path h="3330002" w="3293675">
                <a:moveTo>
                  <a:pt x="0" y="0"/>
                </a:moveTo>
                <a:lnTo>
                  <a:pt x="3293674" y="0"/>
                </a:lnTo>
                <a:lnTo>
                  <a:pt x="3293674" y="3330002"/>
                </a:lnTo>
                <a:lnTo>
                  <a:pt x="0" y="33300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9284" y="975413"/>
            <a:ext cx="7298787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  <a:spcBef>
                <a:spcPct val="0"/>
              </a:spcBef>
            </a:pPr>
            <a:r>
              <a:rPr lang="en-US" sz="50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3.3. Viế</a:t>
            </a:r>
            <a:r>
              <a:rPr lang="en-US" sz="5000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t lại đường dẫn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9634381">
            <a:off x="-3345920" y="7545536"/>
            <a:ext cx="6609404" cy="3521010"/>
          </a:xfrm>
          <a:custGeom>
            <a:avLst/>
            <a:gdLst/>
            <a:ahLst/>
            <a:cxnLst/>
            <a:rect r="r" b="b" t="t" l="l"/>
            <a:pathLst>
              <a:path h="3521010" w="6609404">
                <a:moveTo>
                  <a:pt x="0" y="0"/>
                </a:moveTo>
                <a:lnTo>
                  <a:pt x="6609405" y="0"/>
                </a:lnTo>
                <a:lnTo>
                  <a:pt x="6609405" y="3521010"/>
                </a:lnTo>
                <a:lnTo>
                  <a:pt x="0" y="35210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270160" y="7244003"/>
            <a:ext cx="4137042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i="tru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Vị trí của module URL Rewrite trong vòng đời xử lý yêu cầu HTTP.</a:t>
            </a:r>
          </a:p>
          <a:p>
            <a:pPr algn="ctr">
              <a:lnSpc>
                <a:spcPts val="3499"/>
              </a:lnSpc>
            </a:pPr>
            <a:r>
              <a:rPr lang="en-US" sz="2499" i="tru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Nguồn: </a:t>
            </a:r>
            <a:r>
              <a:rPr lang="en-US" sz="2499" i="true" u="sng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  <a:hlinkClick r:id="rId9" tooltip="https://learn.microsoft.com/en-us/iis/extensions/url-rewrite-module/iis-url-rewriting-and-aspnet-routing"/>
              </a:rPr>
              <a:t>learn.microsoft.com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i="tru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68193" y="8572168"/>
            <a:ext cx="2519807" cy="2405270"/>
          </a:xfrm>
          <a:custGeom>
            <a:avLst/>
            <a:gdLst/>
            <a:ahLst/>
            <a:cxnLst/>
            <a:rect r="r" b="b" t="t" l="l"/>
            <a:pathLst>
              <a:path h="2405270" w="2519807">
                <a:moveTo>
                  <a:pt x="0" y="0"/>
                </a:moveTo>
                <a:lnTo>
                  <a:pt x="2519807" y="0"/>
                </a:lnTo>
                <a:lnTo>
                  <a:pt x="2519807" y="2405271"/>
                </a:lnTo>
                <a:lnTo>
                  <a:pt x="0" y="2405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68179" y="-538602"/>
            <a:ext cx="2892857" cy="2924763"/>
          </a:xfrm>
          <a:custGeom>
            <a:avLst/>
            <a:gdLst/>
            <a:ahLst/>
            <a:cxnLst/>
            <a:rect r="r" b="b" t="t" l="l"/>
            <a:pathLst>
              <a:path h="2924763" w="2892857">
                <a:moveTo>
                  <a:pt x="0" y="0"/>
                </a:moveTo>
                <a:lnTo>
                  <a:pt x="2892857" y="0"/>
                </a:lnTo>
                <a:lnTo>
                  <a:pt x="2892857" y="2924763"/>
                </a:lnTo>
                <a:lnTo>
                  <a:pt x="0" y="29247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6963" y="9258300"/>
            <a:ext cx="2210424" cy="2142101"/>
          </a:xfrm>
          <a:custGeom>
            <a:avLst/>
            <a:gdLst/>
            <a:ahLst/>
            <a:cxnLst/>
            <a:rect r="r" b="b" t="t" l="l"/>
            <a:pathLst>
              <a:path h="2142101" w="2210424">
                <a:moveTo>
                  <a:pt x="0" y="0"/>
                </a:moveTo>
                <a:lnTo>
                  <a:pt x="2210424" y="0"/>
                </a:lnTo>
                <a:lnTo>
                  <a:pt x="2210424" y="2142101"/>
                </a:lnTo>
                <a:lnTo>
                  <a:pt x="0" y="21421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8031" y="923779"/>
            <a:ext cx="5291976" cy="3848710"/>
          </a:xfrm>
          <a:custGeom>
            <a:avLst/>
            <a:gdLst/>
            <a:ahLst/>
            <a:cxnLst/>
            <a:rect r="r" b="b" t="t" l="l"/>
            <a:pathLst>
              <a:path h="3848710" w="5291976">
                <a:moveTo>
                  <a:pt x="0" y="0"/>
                </a:moveTo>
                <a:lnTo>
                  <a:pt x="5291976" y="0"/>
                </a:lnTo>
                <a:lnTo>
                  <a:pt x="5291976" y="3848710"/>
                </a:lnTo>
                <a:lnTo>
                  <a:pt x="0" y="38487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36551" y="961879"/>
            <a:ext cx="8407449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  <a:spcBef>
                <a:spcPct val="0"/>
              </a:spcBef>
            </a:pPr>
            <a:r>
              <a:rPr lang="en-US" sz="50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3.4. Xác</a:t>
            </a:r>
            <a:r>
              <a:rPr lang="en-US" sz="5000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thực và Phân quyền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7202" y="2309961"/>
            <a:ext cx="8222489" cy="702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Authentication: Xác minh danh tính người dùng </a:t>
            </a:r>
            <a:r>
              <a:rPr lang="en-US" sz="39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trước khi vào hệ thống.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39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Authorization: Kiểm tra quyền truy cập cụ thể vào từng tệp tin hoặc khu vực.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39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N</a:t>
            </a:r>
            <a:r>
              <a:rPr lang="en-US" sz="39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găn chặn triệt để các hành vi truy cập trái phép vào dữ liệu nội bộ.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57746" y="3534798"/>
            <a:ext cx="7283650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  <a:r>
              <a:rPr lang="en-US" sz="50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3.5. Hệ </a:t>
            </a:r>
            <a:r>
              <a:rPr lang="en-US" sz="5000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thống ghi nhật ký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57746" y="4884803"/>
            <a:ext cx="7614518" cy="349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Access Log: Lưu lịch sử truy cập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(IP, thời gian,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thao tác)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.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Error Log: Ghi lại các lỗi phát sinh 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giúp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quản trị viên sửa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lỗi nhanh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88867" y="9067067"/>
            <a:ext cx="6821879" cy="2071370"/>
          </a:xfrm>
          <a:custGeom>
            <a:avLst/>
            <a:gdLst/>
            <a:ahLst/>
            <a:cxnLst/>
            <a:rect r="r" b="b" t="t" l="l"/>
            <a:pathLst>
              <a:path h="2071370" w="6821879">
                <a:moveTo>
                  <a:pt x="0" y="0"/>
                </a:moveTo>
                <a:lnTo>
                  <a:pt x="6821879" y="0"/>
                </a:lnTo>
                <a:lnTo>
                  <a:pt x="6821879" y="2071371"/>
                </a:lnTo>
                <a:lnTo>
                  <a:pt x="0" y="20713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77700" y="9463337"/>
            <a:ext cx="6821879" cy="2071370"/>
          </a:xfrm>
          <a:custGeom>
            <a:avLst/>
            <a:gdLst/>
            <a:ahLst/>
            <a:cxnLst/>
            <a:rect r="r" b="b" t="t" l="l"/>
            <a:pathLst>
              <a:path h="2071370" w="6821879">
                <a:moveTo>
                  <a:pt x="0" y="0"/>
                </a:moveTo>
                <a:lnTo>
                  <a:pt x="6821879" y="0"/>
                </a:lnTo>
                <a:lnTo>
                  <a:pt x="6821879" y="2071370"/>
                </a:lnTo>
                <a:lnTo>
                  <a:pt x="0" y="20713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06853" y="-412320"/>
            <a:ext cx="2609079" cy="2528435"/>
          </a:xfrm>
          <a:custGeom>
            <a:avLst/>
            <a:gdLst/>
            <a:ahLst/>
            <a:cxnLst/>
            <a:rect r="r" b="b" t="t" l="l"/>
            <a:pathLst>
              <a:path h="2528435" w="2609079">
                <a:moveTo>
                  <a:pt x="0" y="0"/>
                </a:moveTo>
                <a:lnTo>
                  <a:pt x="2609079" y="0"/>
                </a:lnTo>
                <a:lnTo>
                  <a:pt x="2609079" y="2528434"/>
                </a:lnTo>
                <a:lnTo>
                  <a:pt x="0" y="25284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564670" y="-742076"/>
            <a:ext cx="4383427" cy="3187947"/>
          </a:xfrm>
          <a:custGeom>
            <a:avLst/>
            <a:gdLst/>
            <a:ahLst/>
            <a:cxnLst/>
            <a:rect r="r" b="b" t="t" l="l"/>
            <a:pathLst>
              <a:path h="3187947" w="4383427">
                <a:moveTo>
                  <a:pt x="0" y="0"/>
                </a:moveTo>
                <a:lnTo>
                  <a:pt x="4383426" y="0"/>
                </a:lnTo>
                <a:lnTo>
                  <a:pt x="4383426" y="3187947"/>
                </a:lnTo>
                <a:lnTo>
                  <a:pt x="0" y="31879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15266" y="1920382"/>
            <a:ext cx="9872734" cy="5652140"/>
          </a:xfrm>
          <a:custGeom>
            <a:avLst/>
            <a:gdLst/>
            <a:ahLst/>
            <a:cxnLst/>
            <a:rect r="r" b="b" t="t" l="l"/>
            <a:pathLst>
              <a:path h="5652140" w="9872734">
                <a:moveTo>
                  <a:pt x="0" y="0"/>
                </a:moveTo>
                <a:lnTo>
                  <a:pt x="9872734" y="0"/>
                </a:lnTo>
                <a:lnTo>
                  <a:pt x="9872734" y="5652140"/>
                </a:lnTo>
                <a:lnTo>
                  <a:pt x="0" y="56521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5703" y="1049206"/>
            <a:ext cx="10766398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  <a:r>
              <a:rPr lang="en-US" sz="50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3.6. Reverse Pr</a:t>
            </a:r>
            <a:r>
              <a:rPr lang="en-US" sz="5000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oxy và Cân bằng tải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5703" y="2819134"/>
            <a:ext cx="7516915" cy="664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Reverse Proxy: Apache làm "người gác cổng" để bảo vệ các máy chủ thật phía sau.</a:t>
            </a:r>
          </a:p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37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Load Balancing: Phân bổ đều lượng truy cập, tránh quá tải cho hệ thống.</a:t>
            </a:r>
          </a:p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37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Đảm</a:t>
            </a:r>
            <a:r>
              <a:rPr lang="en-US" sz="37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bảo webs</a:t>
            </a:r>
            <a:r>
              <a:rPr lang="en-US" sz="37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ite hoạt động ổn định kể cả</a:t>
            </a:r>
            <a:r>
              <a:rPr lang="en-US" sz="37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khi có lượng truy cập lớn.</a:t>
            </a:r>
          </a:p>
          <a:p>
            <a:pPr algn="just">
              <a:lnSpc>
                <a:spcPts val="53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792086" y="7359925"/>
            <a:ext cx="8282727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Sơ đồ minh họa cơ chế Cân bằng tải (Load Balancing) giúp phân phố</a:t>
            </a:r>
            <a:r>
              <a:rPr lang="en-US" sz="24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i</a:t>
            </a: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lư</a:t>
            </a:r>
            <a:r>
              <a:rPr lang="en-US" sz="24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u</a:t>
            </a: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lượng truy cập.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Nguồn: </a:t>
            </a:r>
            <a:r>
              <a:rPr lang="en-US" sz="2499" u="sng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  <a:hlinkClick r:id="rId11" tooltip="https://queue-fair.com/load-balancer-for-website-traffic"/>
              </a:rPr>
              <a:t>Queue-Fair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88867" y="9067067"/>
            <a:ext cx="6821879" cy="2071370"/>
          </a:xfrm>
          <a:custGeom>
            <a:avLst/>
            <a:gdLst/>
            <a:ahLst/>
            <a:cxnLst/>
            <a:rect r="r" b="b" t="t" l="l"/>
            <a:pathLst>
              <a:path h="2071370" w="6821879">
                <a:moveTo>
                  <a:pt x="0" y="0"/>
                </a:moveTo>
                <a:lnTo>
                  <a:pt x="6821879" y="0"/>
                </a:lnTo>
                <a:lnTo>
                  <a:pt x="6821879" y="2071371"/>
                </a:lnTo>
                <a:lnTo>
                  <a:pt x="0" y="20713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77700" y="9463337"/>
            <a:ext cx="6821879" cy="2071370"/>
          </a:xfrm>
          <a:custGeom>
            <a:avLst/>
            <a:gdLst/>
            <a:ahLst/>
            <a:cxnLst/>
            <a:rect r="r" b="b" t="t" l="l"/>
            <a:pathLst>
              <a:path h="2071370" w="6821879">
                <a:moveTo>
                  <a:pt x="0" y="0"/>
                </a:moveTo>
                <a:lnTo>
                  <a:pt x="6821879" y="0"/>
                </a:lnTo>
                <a:lnTo>
                  <a:pt x="6821879" y="2071370"/>
                </a:lnTo>
                <a:lnTo>
                  <a:pt x="0" y="20713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58836" y="76645"/>
            <a:ext cx="2609079" cy="2528435"/>
          </a:xfrm>
          <a:custGeom>
            <a:avLst/>
            <a:gdLst/>
            <a:ahLst/>
            <a:cxnLst/>
            <a:rect r="r" b="b" t="t" l="l"/>
            <a:pathLst>
              <a:path h="2528435" w="2609079">
                <a:moveTo>
                  <a:pt x="0" y="0"/>
                </a:moveTo>
                <a:lnTo>
                  <a:pt x="2609079" y="0"/>
                </a:lnTo>
                <a:lnTo>
                  <a:pt x="2609079" y="2528435"/>
                </a:lnTo>
                <a:lnTo>
                  <a:pt x="0" y="25284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75127" y="1011106"/>
            <a:ext cx="4383427" cy="3187947"/>
          </a:xfrm>
          <a:custGeom>
            <a:avLst/>
            <a:gdLst/>
            <a:ahLst/>
            <a:cxnLst/>
            <a:rect r="r" b="b" t="t" l="l"/>
            <a:pathLst>
              <a:path h="3187947" w="4383427">
                <a:moveTo>
                  <a:pt x="0" y="0"/>
                </a:moveTo>
                <a:lnTo>
                  <a:pt x="4383427" y="0"/>
                </a:lnTo>
                <a:lnTo>
                  <a:pt x="4383427" y="3187947"/>
                </a:lnTo>
                <a:lnTo>
                  <a:pt x="0" y="31879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87460" y="2386285"/>
            <a:ext cx="10555739" cy="5950798"/>
          </a:xfrm>
          <a:custGeom>
            <a:avLst/>
            <a:gdLst/>
            <a:ahLst/>
            <a:cxnLst/>
            <a:rect r="r" b="b" t="t" l="l"/>
            <a:pathLst>
              <a:path h="5950798" w="10555739">
                <a:moveTo>
                  <a:pt x="0" y="0"/>
                </a:moveTo>
                <a:lnTo>
                  <a:pt x="10555738" y="0"/>
                </a:lnTo>
                <a:lnTo>
                  <a:pt x="10555738" y="5950797"/>
                </a:lnTo>
                <a:lnTo>
                  <a:pt x="0" y="59507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1495992"/>
            <a:ext cx="9365833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  <a:spcBef>
                <a:spcPct val="0"/>
              </a:spcBef>
            </a:pPr>
            <a:r>
              <a:rPr lang="en-US" sz="50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4.1. Triển khai</a:t>
            </a:r>
            <a:r>
              <a:rPr lang="en-US" sz="5000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mô hình LAMP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4960" y="2940049"/>
            <a:ext cx="4606114" cy="6318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Bộ tứ nền tảng: Linux, Apache (Web Server), MySQL và PHP (xử lý web động).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Phổ biế</a:t>
            </a:r>
            <a:r>
              <a:rPr lang="en-US" sz="39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n, dễ cài đặt cho website doanh nghiệp và blog.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8742" y="347087"/>
            <a:ext cx="16624457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  <a:spcBef>
                <a:spcPct val="0"/>
              </a:spcBef>
            </a:pPr>
            <a:r>
              <a:rPr lang="en-US" sz="6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Chương 4: Ứng dụng thực tế của Apache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76573" y="8508532"/>
            <a:ext cx="869646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Mô hình LAMP với Apache giữ va</a:t>
            </a:r>
            <a:r>
              <a:rPr lang="en-US" sz="24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i</a:t>
            </a: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trò web server trung tâm.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Nguồn: </a:t>
            </a:r>
            <a:r>
              <a:rPr lang="en-US" sz="2499" u="sng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  <a:hlinkClick r:id="rId11" tooltip="https://commons.wikimedia.org/wiki/File:LAMP_software_bundle.svg"/>
              </a:rPr>
              <a:t> Wikimedia Commons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88867" y="9067067"/>
            <a:ext cx="6821879" cy="2071370"/>
          </a:xfrm>
          <a:custGeom>
            <a:avLst/>
            <a:gdLst/>
            <a:ahLst/>
            <a:cxnLst/>
            <a:rect r="r" b="b" t="t" l="l"/>
            <a:pathLst>
              <a:path h="2071370" w="6821879">
                <a:moveTo>
                  <a:pt x="0" y="0"/>
                </a:moveTo>
                <a:lnTo>
                  <a:pt x="6821879" y="0"/>
                </a:lnTo>
                <a:lnTo>
                  <a:pt x="6821879" y="2071371"/>
                </a:lnTo>
                <a:lnTo>
                  <a:pt x="0" y="20713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77700" y="9463337"/>
            <a:ext cx="6821879" cy="2071370"/>
          </a:xfrm>
          <a:custGeom>
            <a:avLst/>
            <a:gdLst/>
            <a:ahLst/>
            <a:cxnLst/>
            <a:rect r="r" b="b" t="t" l="l"/>
            <a:pathLst>
              <a:path h="2071370" w="6821879">
                <a:moveTo>
                  <a:pt x="0" y="0"/>
                </a:moveTo>
                <a:lnTo>
                  <a:pt x="6821879" y="0"/>
                </a:lnTo>
                <a:lnTo>
                  <a:pt x="6821879" y="2071370"/>
                </a:lnTo>
                <a:lnTo>
                  <a:pt x="0" y="20713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58836" y="76645"/>
            <a:ext cx="2609079" cy="2528435"/>
          </a:xfrm>
          <a:custGeom>
            <a:avLst/>
            <a:gdLst/>
            <a:ahLst/>
            <a:cxnLst/>
            <a:rect r="r" b="b" t="t" l="l"/>
            <a:pathLst>
              <a:path h="2528435" w="2609079">
                <a:moveTo>
                  <a:pt x="0" y="0"/>
                </a:moveTo>
                <a:lnTo>
                  <a:pt x="2609079" y="0"/>
                </a:lnTo>
                <a:lnTo>
                  <a:pt x="2609079" y="2528435"/>
                </a:lnTo>
                <a:lnTo>
                  <a:pt x="0" y="25284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75127" y="1011106"/>
            <a:ext cx="4383427" cy="3187947"/>
          </a:xfrm>
          <a:custGeom>
            <a:avLst/>
            <a:gdLst/>
            <a:ahLst/>
            <a:cxnLst/>
            <a:rect r="r" b="b" t="t" l="l"/>
            <a:pathLst>
              <a:path h="3187947" w="4383427">
                <a:moveTo>
                  <a:pt x="0" y="0"/>
                </a:moveTo>
                <a:lnTo>
                  <a:pt x="4383427" y="0"/>
                </a:lnTo>
                <a:lnTo>
                  <a:pt x="4383427" y="3187947"/>
                </a:lnTo>
                <a:lnTo>
                  <a:pt x="0" y="31879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69988" y="2389107"/>
            <a:ext cx="11873210" cy="5906922"/>
          </a:xfrm>
          <a:custGeom>
            <a:avLst/>
            <a:gdLst/>
            <a:ahLst/>
            <a:cxnLst/>
            <a:rect r="r" b="b" t="t" l="l"/>
            <a:pathLst>
              <a:path h="5906922" w="11873210">
                <a:moveTo>
                  <a:pt x="0" y="0"/>
                </a:moveTo>
                <a:lnTo>
                  <a:pt x="11873210" y="0"/>
                </a:lnTo>
                <a:lnTo>
                  <a:pt x="11873210" y="5906922"/>
                </a:lnTo>
                <a:lnTo>
                  <a:pt x="0" y="59069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18742" y="347087"/>
            <a:ext cx="16624457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  <a:spcBef>
                <a:spcPct val="0"/>
              </a:spcBef>
            </a:pPr>
            <a:r>
              <a:rPr lang="en-US" sz="6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Chương 4: Ứng dụng thực tế của Apache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1525507"/>
            <a:ext cx="9365833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  <a:spcBef>
                <a:spcPct val="0"/>
              </a:spcBef>
            </a:pPr>
            <a:r>
              <a:rPr lang="en-US" sz="50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4.2. Dịch</a:t>
            </a:r>
            <a:r>
              <a:rPr lang="en-US" sz="5000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vụ Hosting Website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7359" y="2657559"/>
            <a:ext cx="4497404" cy="6318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Dùng Virtual Hosting chạy nhiều website độc lập trên cùng một máy chủ.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Tối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ưu tài </a:t>
            </a:r>
            <a:r>
              <a:rPr lang="en-US" sz="39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nguyên phần cứng, tiết kiệm tối đa chi phí vận hành.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78661" y="8393967"/>
            <a:ext cx="869646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Apache hỗ trợ Virtual Hosting để phục vụ nh</a:t>
            </a:r>
            <a:r>
              <a:rPr lang="en-US" sz="24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iều</a:t>
            </a: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website trên cùng một</a:t>
            </a:r>
            <a:r>
              <a:rPr lang="en-US" sz="24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m</a:t>
            </a: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áy</a:t>
            </a:r>
            <a:r>
              <a:rPr lang="en-US" sz="24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</a:t>
            </a: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chủ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Nguồn: </a:t>
            </a:r>
            <a:r>
              <a:rPr lang="en-US" sz="2499" u="sng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  <a:hlinkClick r:id="rId11" tooltip="https://commons.wikimedia.org/wiki/File:Virtual_Hosting.png"/>
              </a:rPr>
              <a:t> Wikimedia Commons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68179" y="-538602"/>
            <a:ext cx="2892857" cy="2924763"/>
          </a:xfrm>
          <a:custGeom>
            <a:avLst/>
            <a:gdLst/>
            <a:ahLst/>
            <a:cxnLst/>
            <a:rect r="r" b="b" t="t" l="l"/>
            <a:pathLst>
              <a:path h="2924763" w="2892857">
                <a:moveTo>
                  <a:pt x="0" y="0"/>
                </a:moveTo>
                <a:lnTo>
                  <a:pt x="2892857" y="0"/>
                </a:lnTo>
                <a:lnTo>
                  <a:pt x="2892857" y="2924763"/>
                </a:lnTo>
                <a:lnTo>
                  <a:pt x="0" y="29247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6963" y="9258300"/>
            <a:ext cx="2210424" cy="2142101"/>
          </a:xfrm>
          <a:custGeom>
            <a:avLst/>
            <a:gdLst/>
            <a:ahLst/>
            <a:cxnLst/>
            <a:rect r="r" b="b" t="t" l="l"/>
            <a:pathLst>
              <a:path h="2142101" w="2210424">
                <a:moveTo>
                  <a:pt x="0" y="0"/>
                </a:moveTo>
                <a:lnTo>
                  <a:pt x="2210424" y="0"/>
                </a:lnTo>
                <a:lnTo>
                  <a:pt x="2210424" y="2142101"/>
                </a:lnTo>
                <a:lnTo>
                  <a:pt x="0" y="21421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78031" y="923779"/>
            <a:ext cx="5291976" cy="3848710"/>
          </a:xfrm>
          <a:custGeom>
            <a:avLst/>
            <a:gdLst/>
            <a:ahLst/>
            <a:cxnLst/>
            <a:rect r="r" b="b" t="t" l="l"/>
            <a:pathLst>
              <a:path h="3848710" w="5291976">
                <a:moveTo>
                  <a:pt x="0" y="0"/>
                </a:moveTo>
                <a:lnTo>
                  <a:pt x="5291976" y="0"/>
                </a:lnTo>
                <a:lnTo>
                  <a:pt x="5291976" y="3848710"/>
                </a:lnTo>
                <a:lnTo>
                  <a:pt x="0" y="38487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04646" y="5143500"/>
            <a:ext cx="11301259" cy="4252099"/>
          </a:xfrm>
          <a:custGeom>
            <a:avLst/>
            <a:gdLst/>
            <a:ahLst/>
            <a:cxnLst/>
            <a:rect r="r" b="b" t="t" l="l"/>
            <a:pathLst>
              <a:path h="4252099" w="11301259">
                <a:moveTo>
                  <a:pt x="0" y="0"/>
                </a:moveTo>
                <a:lnTo>
                  <a:pt x="11301259" y="0"/>
                </a:lnTo>
                <a:lnTo>
                  <a:pt x="11301259" y="4252099"/>
                </a:lnTo>
                <a:lnTo>
                  <a:pt x="0" y="42520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5995" y="1259495"/>
            <a:ext cx="7468044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  <a:spcBef>
                <a:spcPct val="0"/>
              </a:spcBef>
            </a:pPr>
            <a:r>
              <a:rPr lang="en-US" sz="50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4.3. Ứ</a:t>
            </a:r>
            <a:r>
              <a:rPr lang="en-US" sz="5000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ng dụng trong CMS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7348" y="3008461"/>
            <a:ext cx="4141511" cy="493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Tương thích hoàn hảo với các nền tảng như WordPress, Joomla.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35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Hỗ trợ tối ưu qua</a:t>
            </a:r>
            <a:r>
              <a:rPr lang="en-US" sz="3500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file .htaccess, URL Rewriting và bảo mật HTTPS.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56758" y="339725"/>
            <a:ext cx="6808909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  <a:r>
              <a:rPr lang="en-US" sz="50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4.4. Re</a:t>
            </a:r>
            <a:r>
              <a:rPr lang="en-US" sz="5000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verse Proxy (Lớp trung gian)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16521" y="2300162"/>
            <a:ext cx="9689384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Làm "người gác cổng" nhận </a:t>
            </a:r>
            <a:r>
              <a:rPr lang="en-US" sz="3500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traffic, bảo vệ các máy chủ ứng dụng nội bộ.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3500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Chuyên xử</a:t>
            </a:r>
            <a:r>
              <a:rPr lang="en-US" sz="3500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lý</a:t>
            </a:r>
            <a:r>
              <a:rPr lang="en-US" sz="3500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bảo mật (SSL), lọc truy cập và cân bằng tải (Load Balancing).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08701" y="9347974"/>
            <a:ext cx="1006933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Apache có thể hoạt động như reverse proxy trước web</a:t>
            </a:r>
            <a:r>
              <a:rPr lang="en-US" sz="24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server hoặ</a:t>
            </a: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c</a:t>
            </a:r>
            <a:r>
              <a:rPr lang="en-US" sz="24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</a:t>
            </a: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appl</a:t>
            </a:r>
            <a:r>
              <a:rPr lang="en-US" sz="24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i</a:t>
            </a: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cat</a:t>
            </a:r>
            <a:r>
              <a:rPr lang="en-US" sz="24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i</a:t>
            </a: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on s</a:t>
            </a:r>
            <a:r>
              <a:rPr lang="en-US" sz="24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e</a:t>
            </a: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rver phí</a:t>
            </a:r>
            <a:r>
              <a:rPr lang="en-US" sz="24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a s</a:t>
            </a:r>
            <a:r>
              <a:rPr lang="en-US" sz="24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au.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84540" y="7820646"/>
            <a:ext cx="2603460" cy="2875308"/>
          </a:xfrm>
          <a:custGeom>
            <a:avLst/>
            <a:gdLst/>
            <a:ahLst/>
            <a:cxnLst/>
            <a:rect r="r" b="b" t="t" l="l"/>
            <a:pathLst>
              <a:path h="2875308" w="2603460">
                <a:moveTo>
                  <a:pt x="0" y="0"/>
                </a:moveTo>
                <a:lnTo>
                  <a:pt x="2603460" y="0"/>
                </a:lnTo>
                <a:lnTo>
                  <a:pt x="2603460" y="2875308"/>
                </a:lnTo>
                <a:lnTo>
                  <a:pt x="0" y="2875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0877" y="335302"/>
            <a:ext cx="2470122" cy="2357844"/>
          </a:xfrm>
          <a:custGeom>
            <a:avLst/>
            <a:gdLst/>
            <a:ahLst/>
            <a:cxnLst/>
            <a:rect r="r" b="b" t="t" l="l"/>
            <a:pathLst>
              <a:path h="2357844" w="2470122">
                <a:moveTo>
                  <a:pt x="0" y="0"/>
                </a:moveTo>
                <a:lnTo>
                  <a:pt x="2470122" y="0"/>
                </a:lnTo>
                <a:lnTo>
                  <a:pt x="2470122" y="2357844"/>
                </a:lnTo>
                <a:lnTo>
                  <a:pt x="0" y="2357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157682" y="8280577"/>
            <a:ext cx="5188680" cy="1575472"/>
          </a:xfrm>
          <a:custGeom>
            <a:avLst/>
            <a:gdLst/>
            <a:ahLst/>
            <a:cxnLst/>
            <a:rect r="r" b="b" t="t" l="l"/>
            <a:pathLst>
              <a:path h="1575472" w="5188680">
                <a:moveTo>
                  <a:pt x="0" y="0"/>
                </a:moveTo>
                <a:lnTo>
                  <a:pt x="5188681" y="0"/>
                </a:lnTo>
                <a:lnTo>
                  <a:pt x="5188681" y="1575472"/>
                </a:lnTo>
                <a:lnTo>
                  <a:pt x="0" y="15754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38139" y="-993622"/>
            <a:ext cx="3293675" cy="3330002"/>
          </a:xfrm>
          <a:custGeom>
            <a:avLst/>
            <a:gdLst/>
            <a:ahLst/>
            <a:cxnLst/>
            <a:rect r="r" b="b" t="t" l="l"/>
            <a:pathLst>
              <a:path h="3330002" w="3293675">
                <a:moveTo>
                  <a:pt x="0" y="0"/>
                </a:moveTo>
                <a:lnTo>
                  <a:pt x="3293675" y="0"/>
                </a:lnTo>
                <a:lnTo>
                  <a:pt x="3293675" y="3330002"/>
                </a:lnTo>
                <a:lnTo>
                  <a:pt x="0" y="33300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88946" y="401977"/>
            <a:ext cx="14619393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Chương 5: Thực hành triển khai Apache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419228"/>
            <a:ext cx="15807119" cy="420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Môi trường: Máy ảo Ubuntu chạy trên VMware Workstation.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Thành phần cốt lõi: Apache HTTP Server, Apache Tomcat, MySQL Database, và Java OpenJDK.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Mô hình hoạt động: Trình duyệt Web → Apache/Tomcat Server → MySQL Database.</a:t>
            </a:r>
          </a:p>
          <a:p>
            <a:pPr algn="just">
              <a:lnSpc>
                <a:spcPts val="55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79151" y="3453785"/>
            <a:ext cx="12677403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  <a:r>
              <a:rPr lang="en-US" sz="50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5.1. Môi trườ</a:t>
            </a:r>
            <a:r>
              <a:rPr lang="en-US" sz="5000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ng thực hiện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5503" y="1028700"/>
            <a:ext cx="14996993" cy="8229600"/>
          </a:xfrm>
          <a:custGeom>
            <a:avLst/>
            <a:gdLst/>
            <a:ahLst/>
            <a:cxnLst/>
            <a:rect r="r" b="b" t="t" l="l"/>
            <a:pathLst>
              <a:path h="8229600" w="14996993">
                <a:moveTo>
                  <a:pt x="0" y="0"/>
                </a:moveTo>
                <a:lnTo>
                  <a:pt x="14996994" y="0"/>
                </a:lnTo>
                <a:lnTo>
                  <a:pt x="1499699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79213" y="9182100"/>
            <a:ext cx="432957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Màn hình Ubu</a:t>
            </a:r>
            <a:r>
              <a:rPr lang="en-US" sz="39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ntu.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65640" y="1419886"/>
            <a:ext cx="5188680" cy="1575472"/>
          </a:xfrm>
          <a:custGeom>
            <a:avLst/>
            <a:gdLst/>
            <a:ahLst/>
            <a:cxnLst/>
            <a:rect r="r" b="b" t="t" l="l"/>
            <a:pathLst>
              <a:path h="1575472" w="5188680">
                <a:moveTo>
                  <a:pt x="0" y="0"/>
                </a:moveTo>
                <a:lnTo>
                  <a:pt x="5188680" y="0"/>
                </a:lnTo>
                <a:lnTo>
                  <a:pt x="5188680" y="1575472"/>
                </a:lnTo>
                <a:lnTo>
                  <a:pt x="0" y="1575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89178" y="1028700"/>
            <a:ext cx="2470122" cy="2357844"/>
          </a:xfrm>
          <a:custGeom>
            <a:avLst/>
            <a:gdLst/>
            <a:ahLst/>
            <a:cxnLst/>
            <a:rect r="r" b="b" t="t" l="l"/>
            <a:pathLst>
              <a:path h="2357844" w="2470122">
                <a:moveTo>
                  <a:pt x="0" y="0"/>
                </a:moveTo>
                <a:lnTo>
                  <a:pt x="2470122" y="0"/>
                </a:lnTo>
                <a:lnTo>
                  <a:pt x="2470122" y="2357844"/>
                </a:lnTo>
                <a:lnTo>
                  <a:pt x="0" y="2357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9258300"/>
            <a:ext cx="3275708" cy="3126812"/>
          </a:xfrm>
          <a:custGeom>
            <a:avLst/>
            <a:gdLst/>
            <a:ahLst/>
            <a:cxnLst/>
            <a:rect r="r" b="b" t="t" l="l"/>
            <a:pathLst>
              <a:path h="3126812" w="3275708">
                <a:moveTo>
                  <a:pt x="0" y="0"/>
                </a:moveTo>
                <a:lnTo>
                  <a:pt x="3275708" y="0"/>
                </a:lnTo>
                <a:lnTo>
                  <a:pt x="3275708" y="3126812"/>
                </a:lnTo>
                <a:lnTo>
                  <a:pt x="0" y="3126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08862" y="7507243"/>
            <a:ext cx="1585503" cy="1751057"/>
          </a:xfrm>
          <a:custGeom>
            <a:avLst/>
            <a:gdLst/>
            <a:ahLst/>
            <a:cxnLst/>
            <a:rect r="r" b="b" t="t" l="l"/>
            <a:pathLst>
              <a:path h="1751057" w="1585503">
                <a:moveTo>
                  <a:pt x="0" y="0"/>
                </a:moveTo>
                <a:lnTo>
                  <a:pt x="1585503" y="0"/>
                </a:lnTo>
                <a:lnTo>
                  <a:pt x="1585503" y="1751057"/>
                </a:lnTo>
                <a:lnTo>
                  <a:pt x="0" y="17510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866310"/>
            <a:ext cx="10363310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  <a:spcBef>
                <a:spcPct val="0"/>
              </a:spcBef>
            </a:pPr>
            <a:r>
              <a:rPr lang="en-US" sz="50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5.2. Triển khai website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0977" y="3056070"/>
            <a:ext cx="13677885" cy="490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Cách thức deploy: Đưa file ứng dụng .war vào 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thư mục /var/lib/tomcat/webapps của Tomcat.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Truy cập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hệ thống: Quản 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lý cửa hàng qua đị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a chỉ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http://loc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alhost:8080/ql_chtl.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Chức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năng chính: Đăng nhập hệ thống, quản lý sản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phẩm, nhân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viên, ...</a:t>
            </a:r>
          </a:p>
          <a:p>
            <a:pPr algn="just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68193" y="8572168"/>
            <a:ext cx="2519807" cy="2405270"/>
          </a:xfrm>
          <a:custGeom>
            <a:avLst/>
            <a:gdLst/>
            <a:ahLst/>
            <a:cxnLst/>
            <a:rect r="r" b="b" t="t" l="l"/>
            <a:pathLst>
              <a:path h="2405270" w="2519807">
                <a:moveTo>
                  <a:pt x="0" y="0"/>
                </a:moveTo>
                <a:lnTo>
                  <a:pt x="2519807" y="0"/>
                </a:lnTo>
                <a:lnTo>
                  <a:pt x="2519807" y="2405271"/>
                </a:lnTo>
                <a:lnTo>
                  <a:pt x="0" y="2405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68179" y="-538602"/>
            <a:ext cx="2892857" cy="2924763"/>
          </a:xfrm>
          <a:custGeom>
            <a:avLst/>
            <a:gdLst/>
            <a:ahLst/>
            <a:cxnLst/>
            <a:rect r="r" b="b" t="t" l="l"/>
            <a:pathLst>
              <a:path h="2924763" w="2892857">
                <a:moveTo>
                  <a:pt x="0" y="0"/>
                </a:moveTo>
                <a:lnTo>
                  <a:pt x="2892857" y="0"/>
                </a:lnTo>
                <a:lnTo>
                  <a:pt x="2892857" y="2924763"/>
                </a:lnTo>
                <a:lnTo>
                  <a:pt x="0" y="29247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6963" y="9258300"/>
            <a:ext cx="2210424" cy="2142101"/>
          </a:xfrm>
          <a:custGeom>
            <a:avLst/>
            <a:gdLst/>
            <a:ahLst/>
            <a:cxnLst/>
            <a:rect r="r" b="b" t="t" l="l"/>
            <a:pathLst>
              <a:path h="2142101" w="2210424">
                <a:moveTo>
                  <a:pt x="0" y="0"/>
                </a:moveTo>
                <a:lnTo>
                  <a:pt x="2210424" y="0"/>
                </a:lnTo>
                <a:lnTo>
                  <a:pt x="2210424" y="2142101"/>
                </a:lnTo>
                <a:lnTo>
                  <a:pt x="0" y="21421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78031" y="923779"/>
            <a:ext cx="5291976" cy="3848710"/>
          </a:xfrm>
          <a:custGeom>
            <a:avLst/>
            <a:gdLst/>
            <a:ahLst/>
            <a:cxnLst/>
            <a:rect r="r" b="b" t="t" l="l"/>
            <a:pathLst>
              <a:path h="3848710" w="5291976">
                <a:moveTo>
                  <a:pt x="0" y="0"/>
                </a:moveTo>
                <a:lnTo>
                  <a:pt x="5291976" y="0"/>
                </a:lnTo>
                <a:lnTo>
                  <a:pt x="5291976" y="3848710"/>
                </a:lnTo>
                <a:lnTo>
                  <a:pt x="0" y="38487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45901" y="2044849"/>
            <a:ext cx="6698822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  <a:spcBef>
                <a:spcPct val="0"/>
              </a:spcBef>
            </a:pPr>
            <a:r>
              <a:rPr lang="en-US" sz="50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5.3. Kết quả demo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8249" y="3519562"/>
            <a:ext cx="15820254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Khởi chạy thành công: Hệ thống đã được triển khai hoàn chỉnh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trên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máy ảo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Ubuntu.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Máy chủ ổn định: Web server Apache</a:t>
            </a:r>
            <a:r>
              <a:rPr lang="en-US" sz="39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 và Application server Tomcat hoạt động bình thường.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- </a:t>
            </a:r>
            <a:r>
              <a:rPr lang="en-US" sz="39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C</a:t>
            </a:r>
            <a:r>
              <a:rPr lang="en-US" sz="39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ơ sở dữ liệu: MySQL kết nối thành công, truy xuất và xử lý dữ liệu chính xác.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1915" y="570279"/>
            <a:ext cx="15044171" cy="8481151"/>
          </a:xfrm>
          <a:custGeom>
            <a:avLst/>
            <a:gdLst/>
            <a:ahLst/>
            <a:cxnLst/>
            <a:rect r="r" b="b" t="t" l="l"/>
            <a:pathLst>
              <a:path h="8481151" w="15044171">
                <a:moveTo>
                  <a:pt x="0" y="0"/>
                </a:moveTo>
                <a:lnTo>
                  <a:pt x="15044170" y="0"/>
                </a:lnTo>
                <a:lnTo>
                  <a:pt x="15044170" y="8481151"/>
                </a:lnTo>
                <a:lnTo>
                  <a:pt x="0" y="8481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2902" y="9182100"/>
            <a:ext cx="854219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Website hoạt động sau khi triể</a:t>
            </a:r>
            <a:r>
              <a:rPr lang="en-US" sz="3999" u="none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n khai.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17878" y="240964"/>
            <a:ext cx="2470122" cy="2357844"/>
          </a:xfrm>
          <a:custGeom>
            <a:avLst/>
            <a:gdLst/>
            <a:ahLst/>
            <a:cxnLst/>
            <a:rect r="r" b="b" t="t" l="l"/>
            <a:pathLst>
              <a:path h="2357844" w="2470122">
                <a:moveTo>
                  <a:pt x="0" y="0"/>
                </a:moveTo>
                <a:lnTo>
                  <a:pt x="2470122" y="0"/>
                </a:lnTo>
                <a:lnTo>
                  <a:pt x="2470122" y="2357844"/>
                </a:lnTo>
                <a:lnTo>
                  <a:pt x="0" y="2357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15915" y="1028700"/>
            <a:ext cx="5291976" cy="3848710"/>
          </a:xfrm>
          <a:custGeom>
            <a:avLst/>
            <a:gdLst/>
            <a:ahLst/>
            <a:cxnLst/>
            <a:rect r="r" b="b" t="t" l="l"/>
            <a:pathLst>
              <a:path h="3848710" w="5291976">
                <a:moveTo>
                  <a:pt x="0" y="0"/>
                </a:moveTo>
                <a:lnTo>
                  <a:pt x="5291975" y="0"/>
                </a:lnTo>
                <a:lnTo>
                  <a:pt x="5291975" y="3848710"/>
                </a:lnTo>
                <a:lnTo>
                  <a:pt x="0" y="3848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640158">
            <a:off x="14268186" y="8838565"/>
            <a:ext cx="6609404" cy="3521010"/>
          </a:xfrm>
          <a:custGeom>
            <a:avLst/>
            <a:gdLst/>
            <a:ahLst/>
            <a:cxnLst/>
            <a:rect r="r" b="b" t="t" l="l"/>
            <a:pathLst>
              <a:path h="3521010" w="6609404">
                <a:moveTo>
                  <a:pt x="0" y="0"/>
                </a:moveTo>
                <a:lnTo>
                  <a:pt x="6609404" y="0"/>
                </a:lnTo>
                <a:lnTo>
                  <a:pt x="6609404" y="3521010"/>
                </a:lnTo>
                <a:lnTo>
                  <a:pt x="0" y="35210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28094" y="9541591"/>
            <a:ext cx="5188680" cy="1575472"/>
          </a:xfrm>
          <a:custGeom>
            <a:avLst/>
            <a:gdLst/>
            <a:ahLst/>
            <a:cxnLst/>
            <a:rect r="r" b="b" t="t" l="l"/>
            <a:pathLst>
              <a:path h="1575472" w="5188680">
                <a:moveTo>
                  <a:pt x="0" y="0"/>
                </a:moveTo>
                <a:lnTo>
                  <a:pt x="5188681" y="0"/>
                </a:lnTo>
                <a:lnTo>
                  <a:pt x="5188681" y="1575473"/>
                </a:lnTo>
                <a:lnTo>
                  <a:pt x="0" y="15754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90768" y="1310786"/>
            <a:ext cx="14622050" cy="5414338"/>
            <a:chOff x="0" y="0"/>
            <a:chExt cx="19496066" cy="721911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802404" y="76200"/>
              <a:ext cx="18693662" cy="1462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65"/>
                </a:lnSpc>
                <a:spcBef>
                  <a:spcPct val="0"/>
                </a:spcBef>
              </a:pPr>
              <a:r>
                <a:rPr lang="en-US" sz="7604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Kết</a:t>
              </a:r>
              <a:r>
                <a:rPr lang="en-US" sz="7604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 luận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519183"/>
              <a:ext cx="17862189" cy="3699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- </a:t>
              </a:r>
              <a:r>
                <a:rPr lang="en-US" sz="399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Hiểu được kiến trúc Apache Web Server</a:t>
              </a:r>
            </a:p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- </a:t>
              </a:r>
              <a:r>
                <a:rPr lang="en-US" sz="399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Nắm được nguyên lý hoạt động HTTP/HTTPS</a:t>
              </a:r>
            </a:p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- </a:t>
              </a:r>
              <a:r>
                <a:rPr lang="en-US" sz="399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Thực hành cài đặt Apache trên Ubuntu.</a:t>
              </a:r>
            </a:p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- </a:t>
              </a:r>
              <a:r>
                <a:rPr lang="en-US" sz="3999" u="none">
                  <a:solidFill>
                    <a:srgbClr val="926F4B"/>
                  </a:solidFill>
                  <a:latin typeface="Calistoga"/>
                  <a:ea typeface="Calistoga"/>
                  <a:cs typeface="Calistoga"/>
                  <a:sym typeface="Calistoga"/>
                </a:rPr>
                <a:t>Triển khai thành công website minh họa.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84882" y="4119460"/>
            <a:ext cx="9518236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926F4B"/>
                </a:solidFill>
                <a:latin typeface="Calistoga"/>
                <a:ea typeface="Calistoga"/>
                <a:cs typeface="Calistoga"/>
                <a:sym typeface="Calistoga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676901" y="-252374"/>
            <a:ext cx="3411201" cy="3256147"/>
          </a:xfrm>
          <a:custGeom>
            <a:avLst/>
            <a:gdLst/>
            <a:ahLst/>
            <a:cxnLst/>
            <a:rect r="r" b="b" t="t" l="l"/>
            <a:pathLst>
              <a:path h="3256147" w="3411201">
                <a:moveTo>
                  <a:pt x="0" y="0"/>
                </a:moveTo>
                <a:lnTo>
                  <a:pt x="3411202" y="0"/>
                </a:lnTo>
                <a:lnTo>
                  <a:pt x="3411202" y="3256147"/>
                </a:lnTo>
                <a:lnTo>
                  <a:pt x="0" y="3256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41850" y="-731805"/>
            <a:ext cx="6609404" cy="3521010"/>
          </a:xfrm>
          <a:custGeom>
            <a:avLst/>
            <a:gdLst/>
            <a:ahLst/>
            <a:cxnLst/>
            <a:rect r="r" b="b" t="t" l="l"/>
            <a:pathLst>
              <a:path h="3521010" w="6609404">
                <a:moveTo>
                  <a:pt x="0" y="0"/>
                </a:moveTo>
                <a:lnTo>
                  <a:pt x="6609404" y="0"/>
                </a:lnTo>
                <a:lnTo>
                  <a:pt x="6609404" y="3521010"/>
                </a:lnTo>
                <a:lnTo>
                  <a:pt x="0" y="3521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1362" y="7556132"/>
            <a:ext cx="3356182" cy="3706627"/>
          </a:xfrm>
          <a:custGeom>
            <a:avLst/>
            <a:gdLst/>
            <a:ahLst/>
            <a:cxnLst/>
            <a:rect r="r" b="b" t="t" l="l"/>
            <a:pathLst>
              <a:path h="3706627" w="3356182">
                <a:moveTo>
                  <a:pt x="0" y="0"/>
                </a:moveTo>
                <a:lnTo>
                  <a:pt x="3356182" y="0"/>
                </a:lnTo>
                <a:lnTo>
                  <a:pt x="3356182" y="3706626"/>
                </a:lnTo>
                <a:lnTo>
                  <a:pt x="0" y="37066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229852" y="6795258"/>
            <a:ext cx="3159725" cy="3194575"/>
          </a:xfrm>
          <a:custGeom>
            <a:avLst/>
            <a:gdLst/>
            <a:ahLst/>
            <a:cxnLst/>
            <a:rect r="r" b="b" t="t" l="l"/>
            <a:pathLst>
              <a:path h="3194575" w="3159725">
                <a:moveTo>
                  <a:pt x="0" y="0"/>
                </a:moveTo>
                <a:lnTo>
                  <a:pt x="3159725" y="0"/>
                </a:lnTo>
                <a:lnTo>
                  <a:pt x="3159725" y="3194575"/>
                </a:lnTo>
                <a:lnTo>
                  <a:pt x="0" y="31945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67933" y="7781372"/>
            <a:ext cx="3411201" cy="3256147"/>
          </a:xfrm>
          <a:custGeom>
            <a:avLst/>
            <a:gdLst/>
            <a:ahLst/>
            <a:cxnLst/>
            <a:rect r="r" b="b" t="t" l="l"/>
            <a:pathLst>
              <a:path h="3256147" w="3411201">
                <a:moveTo>
                  <a:pt x="0" y="0"/>
                </a:moveTo>
                <a:lnTo>
                  <a:pt x="3411202" y="0"/>
                </a:lnTo>
                <a:lnTo>
                  <a:pt x="3411202" y="3256146"/>
                </a:lnTo>
                <a:lnTo>
                  <a:pt x="0" y="32561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80717" y="6953237"/>
            <a:ext cx="2378583" cy="2305063"/>
          </a:xfrm>
          <a:custGeom>
            <a:avLst/>
            <a:gdLst/>
            <a:ahLst/>
            <a:cxnLst/>
            <a:rect r="r" b="b" t="t" l="l"/>
            <a:pathLst>
              <a:path h="2305063" w="2378583">
                <a:moveTo>
                  <a:pt x="0" y="0"/>
                </a:moveTo>
                <a:lnTo>
                  <a:pt x="2378583" y="0"/>
                </a:lnTo>
                <a:lnTo>
                  <a:pt x="2378583" y="2305063"/>
                </a:lnTo>
                <a:lnTo>
                  <a:pt x="0" y="23050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979700"/>
            <a:ext cx="5016769" cy="1523274"/>
          </a:xfrm>
          <a:custGeom>
            <a:avLst/>
            <a:gdLst/>
            <a:ahLst/>
            <a:cxnLst/>
            <a:rect r="r" b="b" t="t" l="l"/>
            <a:pathLst>
              <a:path h="1523274" w="5016769">
                <a:moveTo>
                  <a:pt x="0" y="0"/>
                </a:moveTo>
                <a:lnTo>
                  <a:pt x="5016769" y="0"/>
                </a:lnTo>
                <a:lnTo>
                  <a:pt x="5016769" y="1523273"/>
                </a:lnTo>
                <a:lnTo>
                  <a:pt x="0" y="152327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DAHDmmV1qSU</dc:identifier>
  <dcterms:modified xsi:type="dcterms:W3CDTF">2011-08-01T06:04:30Z</dcterms:modified>
  <cp:revision>1</cp:revision>
  <dc:title>Mã Nguồn Mở</dc:title>
</cp:coreProperties>
</file>